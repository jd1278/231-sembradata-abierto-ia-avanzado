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re Sugar" panose="020B0604020202020204" charset="0"/>
      <p:regular r:id="rId12"/>
    </p:embeddedFont>
    <p:embeddedFont>
      <p:font typeface="Open Sans Bold" panose="020B0604020202020204" charset="0"/>
      <p:regular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Trebuchet M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15.png"/><Relationship Id="rId12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9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7.png"/><Relationship Id="rId9" Type="http://schemas.openxmlformats.org/officeDocument/2006/relationships/image" Target="../media/image40.png"/><Relationship Id="rId1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11" Type="http://schemas.openxmlformats.org/officeDocument/2006/relationships/image" Target="../media/image9.png"/><Relationship Id="rId5" Type="http://schemas.openxmlformats.org/officeDocument/2006/relationships/image" Target="../media/image50.png"/><Relationship Id="rId10" Type="http://schemas.openxmlformats.org/officeDocument/2006/relationships/image" Target="../media/image53.svg"/><Relationship Id="rId4" Type="http://schemas.openxmlformats.org/officeDocument/2006/relationships/image" Target="../media/image49.sv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357121" y="4680204"/>
            <a:ext cx="2244305" cy="841313"/>
            <a:chOff x="0" y="0"/>
            <a:chExt cx="591093" cy="2215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093" cy="221580"/>
            </a:xfrm>
            <a:custGeom>
              <a:avLst/>
              <a:gdLst/>
              <a:ahLst/>
              <a:cxnLst/>
              <a:rect l="l" t="t" r="r" b="b"/>
              <a:pathLst>
                <a:path w="591093" h="221580">
                  <a:moveTo>
                    <a:pt x="34496" y="0"/>
                  </a:moveTo>
                  <a:lnTo>
                    <a:pt x="556597" y="0"/>
                  </a:lnTo>
                  <a:cubicBezTo>
                    <a:pt x="575648" y="0"/>
                    <a:pt x="591093" y="15444"/>
                    <a:pt x="591093" y="34496"/>
                  </a:cubicBezTo>
                  <a:lnTo>
                    <a:pt x="591093" y="187085"/>
                  </a:lnTo>
                  <a:cubicBezTo>
                    <a:pt x="591093" y="196233"/>
                    <a:pt x="587458" y="205008"/>
                    <a:pt x="580989" y="211477"/>
                  </a:cubicBezTo>
                  <a:cubicBezTo>
                    <a:pt x="574520" y="217946"/>
                    <a:pt x="565746" y="221580"/>
                    <a:pt x="556597" y="221580"/>
                  </a:cubicBezTo>
                  <a:lnTo>
                    <a:pt x="34496" y="221580"/>
                  </a:lnTo>
                  <a:cubicBezTo>
                    <a:pt x="25347" y="221580"/>
                    <a:pt x="16573" y="217946"/>
                    <a:pt x="10104" y="211477"/>
                  </a:cubicBezTo>
                  <a:cubicBezTo>
                    <a:pt x="3634" y="205008"/>
                    <a:pt x="0" y="196233"/>
                    <a:pt x="0" y="187085"/>
                  </a:cubicBezTo>
                  <a:lnTo>
                    <a:pt x="0" y="34496"/>
                  </a:lnTo>
                  <a:cubicBezTo>
                    <a:pt x="0" y="25347"/>
                    <a:pt x="3634" y="16573"/>
                    <a:pt x="10104" y="10104"/>
                  </a:cubicBezTo>
                  <a:cubicBezTo>
                    <a:pt x="16573" y="3634"/>
                    <a:pt x="25347" y="0"/>
                    <a:pt x="344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91093" cy="269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289698" y="4592095"/>
            <a:ext cx="2422319" cy="1017531"/>
          </a:xfrm>
          <a:custGeom>
            <a:avLst/>
            <a:gdLst/>
            <a:ahLst/>
            <a:cxnLst/>
            <a:rect l="l" t="t" r="r" b="b"/>
            <a:pathLst>
              <a:path w="2422319" h="1017531">
                <a:moveTo>
                  <a:pt x="0" y="0"/>
                </a:moveTo>
                <a:lnTo>
                  <a:pt x="2422320" y="0"/>
                </a:lnTo>
                <a:lnTo>
                  <a:pt x="2422320" y="1017531"/>
                </a:lnTo>
                <a:lnTo>
                  <a:pt x="0" y="1017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91" t="-74265" r="-10247" b="-10197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00858" y="5404104"/>
            <a:ext cx="4055215" cy="4055215"/>
          </a:xfrm>
          <a:custGeom>
            <a:avLst/>
            <a:gdLst/>
            <a:ahLst/>
            <a:cxnLst/>
            <a:rect l="l" t="t" r="r" b="b"/>
            <a:pathLst>
              <a:path w="4055215" h="4055215">
                <a:moveTo>
                  <a:pt x="0" y="0"/>
                </a:moveTo>
                <a:lnTo>
                  <a:pt x="4055215" y="0"/>
                </a:lnTo>
                <a:lnTo>
                  <a:pt x="4055215" y="4055215"/>
                </a:lnTo>
                <a:lnTo>
                  <a:pt x="0" y="4055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 descr="$PPTXTitle"/>
          <p:cNvSpPr txBox="1"/>
          <p:nvPr/>
        </p:nvSpPr>
        <p:spPr>
          <a:xfrm>
            <a:off x="1676400" y="4670679"/>
            <a:ext cx="4242721" cy="699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Equipo</a:t>
            </a:r>
            <a:r>
              <a:rPr lang="en-US" sz="4800" b="1" dirty="0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# 231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48649" y="5185029"/>
            <a:ext cx="7732395" cy="4000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8"/>
              </a:lnSpc>
            </a:pPr>
            <a:r>
              <a:rPr lang="en-US" sz="3600" b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SembraData</a:t>
            </a:r>
          </a:p>
          <a:p>
            <a:pPr algn="ctr">
              <a:lnSpc>
                <a:spcPts val="6418"/>
              </a:lnSpc>
            </a:pPr>
            <a:r>
              <a:rPr lang="en-US" sz="3600" b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Ing. Diego Alexander Cruz Melo</a:t>
            </a:r>
          </a:p>
          <a:p>
            <a:pPr algn="ctr">
              <a:lnSpc>
                <a:spcPts val="6418"/>
              </a:lnSpc>
            </a:pPr>
            <a:r>
              <a:rPr lang="en-US" sz="3600" b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Andrea Sofía Vargas Ballesteros</a:t>
            </a:r>
          </a:p>
          <a:p>
            <a:pPr algn="ctr">
              <a:lnSpc>
                <a:spcPts val="6418"/>
              </a:lnSpc>
            </a:pPr>
            <a:r>
              <a:rPr lang="en-US" sz="3600" b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Juan David Paredes Cubides</a:t>
            </a:r>
          </a:p>
          <a:p>
            <a:pPr algn="ctr">
              <a:lnSpc>
                <a:spcPts val="6419"/>
              </a:lnSpc>
            </a:pPr>
            <a:r>
              <a:rPr lang="en-US" sz="3600" b="1">
                <a:solidFill>
                  <a:srgbClr val="34343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Jerson Camilo Muñoz Gonzalez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779776" y="-35415"/>
            <a:ext cx="12951682" cy="2816715"/>
            <a:chOff x="0" y="0"/>
            <a:chExt cx="17268909" cy="37556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42262" cy="3755620"/>
            </a:xfrm>
            <a:custGeom>
              <a:avLst/>
              <a:gdLst/>
              <a:ahLst/>
              <a:cxnLst/>
              <a:rect l="l" t="t" r="r" b="b"/>
              <a:pathLst>
                <a:path w="3242262" h="3755620">
                  <a:moveTo>
                    <a:pt x="0" y="0"/>
                  </a:moveTo>
                  <a:lnTo>
                    <a:pt x="3242262" y="0"/>
                  </a:lnTo>
                  <a:lnTo>
                    <a:pt x="3242262" y="3755620"/>
                  </a:lnTo>
                  <a:lnTo>
                    <a:pt x="0" y="37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255758" y="1185941"/>
              <a:ext cx="8676397" cy="1932745"/>
            </a:xfrm>
            <a:custGeom>
              <a:avLst/>
              <a:gdLst/>
              <a:ahLst/>
              <a:cxnLst/>
              <a:rect l="l" t="t" r="r" b="b"/>
              <a:pathLst>
                <a:path w="8676397" h="1932745">
                  <a:moveTo>
                    <a:pt x="0" y="0"/>
                  </a:moveTo>
                  <a:lnTo>
                    <a:pt x="8676396" y="0"/>
                  </a:lnTo>
                  <a:lnTo>
                    <a:pt x="8676396" y="1932745"/>
                  </a:lnTo>
                  <a:lnTo>
                    <a:pt x="0" y="193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6744" b="-2732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466782" y="1250170"/>
              <a:ext cx="8802126" cy="1839403"/>
            </a:xfrm>
            <a:custGeom>
              <a:avLst/>
              <a:gdLst/>
              <a:ahLst/>
              <a:cxnLst/>
              <a:rect l="l" t="t" r="r" b="b"/>
              <a:pathLst>
                <a:path w="8802126" h="1839403">
                  <a:moveTo>
                    <a:pt x="0" y="0"/>
                  </a:moveTo>
                  <a:lnTo>
                    <a:pt x="8802127" y="0"/>
                  </a:lnTo>
                  <a:lnTo>
                    <a:pt x="8802127" y="1839403"/>
                  </a:lnTo>
                  <a:lnTo>
                    <a:pt x="0" y="183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4968" b="-15933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21448" y="2581433"/>
              <a:ext cx="13141020" cy="1174186"/>
            </a:xfrm>
            <a:custGeom>
              <a:avLst/>
              <a:gdLst/>
              <a:ahLst/>
              <a:cxnLst/>
              <a:rect l="l" t="t" r="r" b="b"/>
              <a:pathLst>
                <a:path w="13141020" h="1174186">
                  <a:moveTo>
                    <a:pt x="0" y="0"/>
                  </a:moveTo>
                  <a:lnTo>
                    <a:pt x="13141019" y="0"/>
                  </a:lnTo>
                  <a:lnTo>
                    <a:pt x="13141019" y="1174187"/>
                  </a:lnTo>
                  <a:lnTo>
                    <a:pt x="0" y="1174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33" t="-649904" r="-3489" b="-65434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244638" y="3277680"/>
            <a:ext cx="9502490" cy="4745042"/>
            <a:chOff x="0" y="0"/>
            <a:chExt cx="1229744" cy="614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9744" cy="614069"/>
            </a:xfrm>
            <a:custGeom>
              <a:avLst/>
              <a:gdLst/>
              <a:ahLst/>
              <a:cxnLst/>
              <a:rect l="l" t="t" r="r" b="b"/>
              <a:pathLst>
                <a:path w="1229744" h="614069">
                  <a:moveTo>
                    <a:pt x="18739" y="0"/>
                  </a:moveTo>
                  <a:lnTo>
                    <a:pt x="1211006" y="0"/>
                  </a:lnTo>
                  <a:cubicBezTo>
                    <a:pt x="1215976" y="0"/>
                    <a:pt x="1220742" y="1974"/>
                    <a:pt x="1224256" y="5488"/>
                  </a:cubicBezTo>
                  <a:cubicBezTo>
                    <a:pt x="1227770" y="9003"/>
                    <a:pt x="1229744" y="13769"/>
                    <a:pt x="1229744" y="18739"/>
                  </a:cubicBezTo>
                  <a:lnTo>
                    <a:pt x="1229744" y="595331"/>
                  </a:lnTo>
                  <a:cubicBezTo>
                    <a:pt x="1229744" y="605680"/>
                    <a:pt x="1221355" y="614069"/>
                    <a:pt x="1211006" y="614069"/>
                  </a:cubicBezTo>
                  <a:lnTo>
                    <a:pt x="18739" y="614069"/>
                  </a:lnTo>
                  <a:cubicBezTo>
                    <a:pt x="13769" y="614069"/>
                    <a:pt x="9003" y="612095"/>
                    <a:pt x="5488" y="608581"/>
                  </a:cubicBezTo>
                  <a:cubicBezTo>
                    <a:pt x="1974" y="605067"/>
                    <a:pt x="0" y="600301"/>
                    <a:pt x="0" y="595331"/>
                  </a:cubicBezTo>
                  <a:lnTo>
                    <a:pt x="0" y="18739"/>
                  </a:lnTo>
                  <a:cubicBezTo>
                    <a:pt x="0" y="13769"/>
                    <a:pt x="1974" y="9003"/>
                    <a:pt x="5488" y="5488"/>
                  </a:cubicBezTo>
                  <a:cubicBezTo>
                    <a:pt x="9003" y="1974"/>
                    <a:pt x="13769" y="0"/>
                    <a:pt x="18739" y="0"/>
                  </a:cubicBezTo>
                  <a:close/>
                </a:path>
              </a:pathLst>
            </a:custGeom>
            <a:blipFill>
              <a:blip r:embed="rId6"/>
              <a:stretch>
                <a:fillRect t="-247" b="-24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338209" b="-338209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872" b="-1872"/>
                </a:stretch>
              </a:blipFill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1028700" y="3327478"/>
            <a:ext cx="6793531" cy="7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>
                <a:solidFill>
                  <a:srgbClr val="800080"/>
                </a:solidFill>
                <a:latin typeface="More Sugar"/>
                <a:ea typeface="More Sugar"/>
                <a:cs typeface="More Sugar"/>
                <a:sym typeface="More Sugar"/>
              </a:rPr>
              <a:t>¿Qué es SembraData?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7918" y="4488893"/>
            <a:ext cx="6555095" cy="353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2904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SembraData es una plataforma de análisis y predicción agroclimática para actualmente para el departamento de Santander. Integra datos abiertos, información climática e inteligencia artificial para apoyar la toma de decisiones en el sector agrícola.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304925" y="2781300"/>
            <a:ext cx="7839075" cy="5805929"/>
          </a:xfrm>
          <a:custGeom>
            <a:avLst/>
            <a:gdLst/>
            <a:ahLst/>
            <a:cxnLst/>
            <a:rect l="l" t="t" r="r" b="b"/>
            <a:pathLst>
              <a:path w="7839075" h="5805929">
                <a:moveTo>
                  <a:pt x="0" y="0"/>
                </a:moveTo>
                <a:lnTo>
                  <a:pt x="7839075" y="0"/>
                </a:lnTo>
                <a:lnTo>
                  <a:pt x="7839075" y="5805929"/>
                </a:lnTo>
                <a:lnTo>
                  <a:pt x="0" y="5805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446" r="-11446"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2171700" y="278130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25385" y="3280696"/>
            <a:ext cx="3685454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3449">
                <a:solidFill>
                  <a:srgbClr val="9AB800"/>
                </a:solidFill>
                <a:latin typeface="More Sugar"/>
                <a:ea typeface="More Sugar"/>
                <a:cs typeface="More Sugar"/>
                <a:sym typeface="More Sugar"/>
              </a:rPr>
              <a:t>Para Agrícultores</a:t>
            </a:r>
          </a:p>
        </p:txBody>
      </p:sp>
      <p:sp>
        <p:nvSpPr>
          <p:cNvPr id="8" name="Freeform 8"/>
          <p:cNvSpPr/>
          <p:nvPr/>
        </p:nvSpPr>
        <p:spPr>
          <a:xfrm>
            <a:off x="1952625" y="4286250"/>
            <a:ext cx="6762750" cy="219075"/>
          </a:xfrm>
          <a:custGeom>
            <a:avLst/>
            <a:gdLst/>
            <a:ahLst/>
            <a:cxnLst/>
            <a:rect l="l" t="t" r="r" b="b"/>
            <a:pathLst>
              <a:path w="6762750" h="219075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52625" y="4838700"/>
            <a:ext cx="6457427" cy="289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576">
                <a:solidFill>
                  <a:srgbClr val="002646"/>
                </a:solidFill>
                <a:latin typeface="Trebuchet MS"/>
                <a:ea typeface="Trebuchet MS"/>
                <a:cs typeface="Trebuchet MS"/>
                <a:sym typeface="Trebuchet MS"/>
              </a:rPr>
              <a:t>Permite consultar información climática y del suelo de una zona, analizar su comportamiento histórico y conocer predicciones y niveles de viabilidad climático para cultivos como café, cacao y granadilla.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05009" y="2781300"/>
            <a:ext cx="7262751" cy="5805929"/>
          </a:xfrm>
          <a:custGeom>
            <a:avLst/>
            <a:gdLst/>
            <a:ahLst/>
            <a:cxnLst/>
            <a:rect l="l" t="t" r="r" b="b"/>
            <a:pathLst>
              <a:path w="7262751" h="5805929">
                <a:moveTo>
                  <a:pt x="0" y="0"/>
                </a:moveTo>
                <a:lnTo>
                  <a:pt x="7262751" y="0"/>
                </a:lnTo>
                <a:lnTo>
                  <a:pt x="7262751" y="5805929"/>
                </a:lnTo>
                <a:lnTo>
                  <a:pt x="0" y="58059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372" r="-1156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91700" y="278130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468100" y="3280696"/>
            <a:ext cx="489966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3449">
                <a:solidFill>
                  <a:srgbClr val="802080"/>
                </a:solidFill>
                <a:latin typeface="More Sugar"/>
                <a:ea typeface="More Sugar"/>
                <a:cs typeface="More Sugar"/>
                <a:sym typeface="More Sugar"/>
              </a:rPr>
              <a:t>Para Entidades Públicas</a:t>
            </a:r>
          </a:p>
        </p:txBody>
      </p:sp>
      <p:sp>
        <p:nvSpPr>
          <p:cNvPr id="13" name="Freeform 13"/>
          <p:cNvSpPr/>
          <p:nvPr/>
        </p:nvSpPr>
        <p:spPr>
          <a:xfrm>
            <a:off x="9660969" y="4281195"/>
            <a:ext cx="6820201" cy="224130"/>
          </a:xfrm>
          <a:custGeom>
            <a:avLst/>
            <a:gdLst/>
            <a:ahLst/>
            <a:cxnLst/>
            <a:rect l="l" t="t" r="r" b="b"/>
            <a:pathLst>
              <a:path w="6820201" h="224130">
                <a:moveTo>
                  <a:pt x="0" y="0"/>
                </a:moveTo>
                <a:lnTo>
                  <a:pt x="6820201" y="0"/>
                </a:lnTo>
                <a:lnTo>
                  <a:pt x="6820201" y="224130"/>
                </a:lnTo>
                <a:lnTo>
                  <a:pt x="0" y="2241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937" b="-93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588849" y="4810125"/>
            <a:ext cx="6295071" cy="2074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8"/>
              </a:lnSpc>
            </a:pPr>
            <a:r>
              <a:rPr lang="en-US" sz="2611">
                <a:solidFill>
                  <a:srgbClr val="002646"/>
                </a:solidFill>
                <a:latin typeface="Trebuchet MS"/>
                <a:ea typeface="Trebuchet MS"/>
                <a:cs typeface="Trebuchet MS"/>
                <a:sym typeface="Trebuchet MS"/>
              </a:rPr>
              <a:t>Herramienta de análisis territorial basada en datos, que permite visualizar y analizar información agroclimática de los municipios de Santander.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779776" y="-35415"/>
            <a:ext cx="12951682" cy="2816715"/>
            <a:chOff x="0" y="0"/>
            <a:chExt cx="17268909" cy="37556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42262" cy="3755620"/>
            </a:xfrm>
            <a:custGeom>
              <a:avLst/>
              <a:gdLst/>
              <a:ahLst/>
              <a:cxnLst/>
              <a:rect l="l" t="t" r="r" b="b"/>
              <a:pathLst>
                <a:path w="3242262" h="3755620">
                  <a:moveTo>
                    <a:pt x="0" y="0"/>
                  </a:moveTo>
                  <a:lnTo>
                    <a:pt x="3242262" y="0"/>
                  </a:lnTo>
                  <a:lnTo>
                    <a:pt x="3242262" y="3755620"/>
                  </a:lnTo>
                  <a:lnTo>
                    <a:pt x="0" y="37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255758" y="1185941"/>
              <a:ext cx="8676397" cy="1932745"/>
            </a:xfrm>
            <a:custGeom>
              <a:avLst/>
              <a:gdLst/>
              <a:ahLst/>
              <a:cxnLst/>
              <a:rect l="l" t="t" r="r" b="b"/>
              <a:pathLst>
                <a:path w="8676397" h="1932745">
                  <a:moveTo>
                    <a:pt x="0" y="0"/>
                  </a:moveTo>
                  <a:lnTo>
                    <a:pt x="8676396" y="0"/>
                  </a:lnTo>
                  <a:lnTo>
                    <a:pt x="8676396" y="1932745"/>
                  </a:lnTo>
                  <a:lnTo>
                    <a:pt x="0" y="193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6744" b="-273249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466782" y="1250170"/>
              <a:ext cx="8802126" cy="1839403"/>
            </a:xfrm>
            <a:custGeom>
              <a:avLst/>
              <a:gdLst/>
              <a:ahLst/>
              <a:cxnLst/>
              <a:rect l="l" t="t" r="r" b="b"/>
              <a:pathLst>
                <a:path w="8802126" h="1839403">
                  <a:moveTo>
                    <a:pt x="0" y="0"/>
                  </a:moveTo>
                  <a:lnTo>
                    <a:pt x="8802127" y="0"/>
                  </a:lnTo>
                  <a:lnTo>
                    <a:pt x="8802127" y="1839403"/>
                  </a:lnTo>
                  <a:lnTo>
                    <a:pt x="0" y="183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94968" b="-15933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621448" y="2581433"/>
              <a:ext cx="13141020" cy="1174186"/>
            </a:xfrm>
            <a:custGeom>
              <a:avLst/>
              <a:gdLst/>
              <a:ahLst/>
              <a:cxnLst/>
              <a:rect l="l" t="t" r="r" b="b"/>
              <a:pathLst>
                <a:path w="13141020" h="1174186">
                  <a:moveTo>
                    <a:pt x="0" y="0"/>
                  </a:moveTo>
                  <a:lnTo>
                    <a:pt x="13141019" y="0"/>
                  </a:lnTo>
                  <a:lnTo>
                    <a:pt x="13141019" y="1174187"/>
                  </a:lnTo>
                  <a:lnTo>
                    <a:pt x="0" y="1174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833" t="-649904" r="-3489" b="-65434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338209" b="-338209"/>
                </a:stretch>
              </a:blip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3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6744" b="-2732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4968" b="-15933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33" t="-649904" r="-3489" b="-65434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6428412" y="-2045576"/>
            <a:ext cx="1643677" cy="8899467"/>
            <a:chOff x="0" y="0"/>
            <a:chExt cx="282870" cy="1531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2870" cy="1531560"/>
            </a:xfrm>
            <a:custGeom>
              <a:avLst/>
              <a:gdLst/>
              <a:ahLst/>
              <a:cxnLst/>
              <a:rect l="l" t="t" r="r" b="b"/>
              <a:pathLst>
                <a:path w="282870" h="1531560">
                  <a:moveTo>
                    <a:pt x="282870" y="61965"/>
                  </a:moveTo>
                  <a:lnTo>
                    <a:pt x="282870" y="1531560"/>
                  </a:lnTo>
                  <a:lnTo>
                    <a:pt x="141435" y="1432500"/>
                  </a:lnTo>
                  <a:lnTo>
                    <a:pt x="0" y="1531560"/>
                  </a:lnTo>
                  <a:lnTo>
                    <a:pt x="0" y="61965"/>
                  </a:lnTo>
                  <a:cubicBezTo>
                    <a:pt x="0" y="22860"/>
                    <a:pt x="16972" y="0"/>
                    <a:pt x="36773" y="0"/>
                  </a:cubicBezTo>
                  <a:lnTo>
                    <a:pt x="246097" y="0"/>
                  </a:lnTo>
                  <a:cubicBezTo>
                    <a:pt x="265898" y="0"/>
                    <a:pt x="282870" y="21590"/>
                    <a:pt x="282870" y="66344"/>
                  </a:cubicBezTo>
                  <a:close/>
                </a:path>
              </a:pathLst>
            </a:custGeom>
            <a:ln w="38100" cap="sq">
              <a:solidFill>
                <a:srgbClr val="9AB8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82870" cy="144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6161452" y="793401"/>
            <a:ext cx="2177597" cy="8899467"/>
            <a:chOff x="0" y="0"/>
            <a:chExt cx="374755" cy="1531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4755" cy="1531560"/>
            </a:xfrm>
            <a:custGeom>
              <a:avLst/>
              <a:gdLst/>
              <a:ahLst/>
              <a:cxnLst/>
              <a:rect l="l" t="t" r="r" b="b"/>
              <a:pathLst>
                <a:path w="374755" h="1531560">
                  <a:moveTo>
                    <a:pt x="374755" y="61965"/>
                  </a:moveTo>
                  <a:lnTo>
                    <a:pt x="374755" y="1531560"/>
                  </a:lnTo>
                  <a:lnTo>
                    <a:pt x="187378" y="1432500"/>
                  </a:lnTo>
                  <a:lnTo>
                    <a:pt x="0" y="1531560"/>
                  </a:lnTo>
                  <a:lnTo>
                    <a:pt x="0" y="61965"/>
                  </a:lnTo>
                  <a:cubicBezTo>
                    <a:pt x="0" y="22860"/>
                    <a:pt x="22485" y="0"/>
                    <a:pt x="48718" y="0"/>
                  </a:cubicBezTo>
                  <a:lnTo>
                    <a:pt x="326037" y="0"/>
                  </a:lnTo>
                  <a:cubicBezTo>
                    <a:pt x="352270" y="0"/>
                    <a:pt x="374755" y="21590"/>
                    <a:pt x="374755" y="66344"/>
                  </a:cubicBezTo>
                  <a:close/>
                </a:path>
              </a:pathLst>
            </a:custGeom>
            <a:ln w="38100" cap="sq">
              <a:solidFill>
                <a:srgbClr val="9AB8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74755" cy="144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6227572" y="3765988"/>
            <a:ext cx="2177597" cy="8899467"/>
            <a:chOff x="0" y="0"/>
            <a:chExt cx="374755" cy="1531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4755" cy="1531560"/>
            </a:xfrm>
            <a:custGeom>
              <a:avLst/>
              <a:gdLst/>
              <a:ahLst/>
              <a:cxnLst/>
              <a:rect l="l" t="t" r="r" b="b"/>
              <a:pathLst>
                <a:path w="374755" h="1531560">
                  <a:moveTo>
                    <a:pt x="374755" y="61965"/>
                  </a:moveTo>
                  <a:lnTo>
                    <a:pt x="374755" y="1531560"/>
                  </a:lnTo>
                  <a:lnTo>
                    <a:pt x="187378" y="1432500"/>
                  </a:lnTo>
                  <a:lnTo>
                    <a:pt x="0" y="1531560"/>
                  </a:lnTo>
                  <a:lnTo>
                    <a:pt x="0" y="61965"/>
                  </a:lnTo>
                  <a:cubicBezTo>
                    <a:pt x="0" y="22860"/>
                    <a:pt x="22485" y="0"/>
                    <a:pt x="48718" y="0"/>
                  </a:cubicBezTo>
                  <a:lnTo>
                    <a:pt x="326037" y="0"/>
                  </a:lnTo>
                  <a:cubicBezTo>
                    <a:pt x="352270" y="0"/>
                    <a:pt x="374755" y="21590"/>
                    <a:pt x="374755" y="66344"/>
                  </a:cubicBezTo>
                  <a:close/>
                </a:path>
              </a:pathLst>
            </a:custGeom>
            <a:ln w="38100" cap="sq">
              <a:solidFill>
                <a:srgbClr val="9AB8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74755" cy="144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26264" y="2453689"/>
            <a:ext cx="3751165" cy="5762032"/>
            <a:chOff x="0" y="0"/>
            <a:chExt cx="812800" cy="12485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248513"/>
            </a:xfrm>
            <a:custGeom>
              <a:avLst/>
              <a:gdLst/>
              <a:ahLst/>
              <a:cxnLst/>
              <a:rect l="l" t="t" r="r" b="b"/>
              <a:pathLst>
                <a:path w="812800" h="1248513">
                  <a:moveTo>
                    <a:pt x="47469" y="0"/>
                  </a:moveTo>
                  <a:lnTo>
                    <a:pt x="765331" y="0"/>
                  </a:lnTo>
                  <a:cubicBezTo>
                    <a:pt x="791547" y="0"/>
                    <a:pt x="812800" y="21253"/>
                    <a:pt x="812800" y="47469"/>
                  </a:cubicBezTo>
                  <a:lnTo>
                    <a:pt x="812800" y="1201044"/>
                  </a:lnTo>
                  <a:cubicBezTo>
                    <a:pt x="812800" y="1213634"/>
                    <a:pt x="807799" y="1225708"/>
                    <a:pt x="798897" y="1234610"/>
                  </a:cubicBezTo>
                  <a:cubicBezTo>
                    <a:pt x="789994" y="1243512"/>
                    <a:pt x="777921" y="1248513"/>
                    <a:pt x="765331" y="1248513"/>
                  </a:cubicBezTo>
                  <a:lnTo>
                    <a:pt x="47469" y="1248513"/>
                  </a:lnTo>
                  <a:cubicBezTo>
                    <a:pt x="21253" y="1248513"/>
                    <a:pt x="0" y="1227261"/>
                    <a:pt x="0" y="1201044"/>
                  </a:cubicBezTo>
                  <a:lnTo>
                    <a:pt x="0" y="47469"/>
                  </a:lnTo>
                  <a:cubicBezTo>
                    <a:pt x="0" y="21253"/>
                    <a:pt x="21253" y="0"/>
                    <a:pt x="47469" y="0"/>
                  </a:cubicBezTo>
                  <a:close/>
                </a:path>
              </a:pathLst>
            </a:custGeom>
            <a:blipFill>
              <a:blip r:embed="rId6"/>
              <a:stretch>
                <a:fillRect t="-466" b="-466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294267" y="848244"/>
            <a:ext cx="6016612" cy="7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7"/>
              </a:lnSpc>
            </a:pPr>
            <a:r>
              <a:rPr lang="en-US" sz="4326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Impacto Social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32757" y="1601275"/>
            <a:ext cx="8157890" cy="185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Acceso equitativo al análisis agroclimático.</a:t>
            </a:r>
          </a:p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Reducción de la vulnerabilidad a eventos climáticos extremos.</a:t>
            </a:r>
          </a:p>
          <a:p>
            <a:pPr marL="0" lvl="0" indent="0" algn="l">
              <a:lnSpc>
                <a:spcPts val="3745"/>
              </a:lnSpc>
              <a:spcBef>
                <a:spcPct val="0"/>
              </a:spcBef>
            </a:pPr>
            <a:endParaRPr lang="en-US" sz="2675" u="none" strike="noStrike">
              <a:solidFill>
                <a:srgbClr val="001F3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866637" y="3283146"/>
            <a:ext cx="6016612" cy="7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7"/>
              </a:lnSpc>
            </a:pPr>
            <a:r>
              <a:rPr lang="en-US" sz="4326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Impacto Económico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32757" y="4207721"/>
            <a:ext cx="8157890" cy="232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Disminu</a:t>
            </a: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ción de pérdidas económicas al evitar siembras en condiciones desfavorables.</a:t>
            </a:r>
          </a:p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Generación de perfiles de viabilidad para créditos agropecuarios y seguros paramétricos.</a:t>
            </a:r>
          </a:p>
          <a:p>
            <a:pPr marL="0" lvl="0" indent="0" algn="l">
              <a:lnSpc>
                <a:spcPts val="3745"/>
              </a:lnSpc>
              <a:spcBef>
                <a:spcPct val="0"/>
              </a:spcBef>
            </a:pPr>
            <a:endParaRPr lang="en-US" sz="2675" u="none" strike="noStrike">
              <a:solidFill>
                <a:srgbClr val="001F3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932757" y="6324291"/>
            <a:ext cx="6016612" cy="7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7"/>
              </a:lnSpc>
            </a:pPr>
            <a:r>
              <a:rPr lang="en-US" sz="4326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Impacto Ambiental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32757" y="7174802"/>
            <a:ext cx="8157890" cy="232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Promo</a:t>
            </a: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ción de cultivos acordes a la aptitud física del terreno para evitar la erosión y degradación.</a:t>
            </a:r>
          </a:p>
          <a:p>
            <a:pPr marL="577543" lvl="1" indent="-288772" algn="l">
              <a:lnSpc>
                <a:spcPts val="3745"/>
              </a:lnSpc>
              <a:spcBef>
                <a:spcPct val="0"/>
              </a:spcBef>
              <a:buFont typeface="Arial"/>
              <a:buChar char="•"/>
            </a:pPr>
            <a:r>
              <a:rPr lang="en-US" sz="2675" u="none" strike="noStrike">
                <a:solidFill>
                  <a:srgbClr val="001F3D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Optimización en la gestión del agua y prevención ante temporadas de sequía o exceso de lluvia.</a:t>
            </a:r>
          </a:p>
          <a:p>
            <a:pPr marL="0" lvl="0" indent="0" algn="l">
              <a:lnSpc>
                <a:spcPts val="3745"/>
              </a:lnSpc>
              <a:spcBef>
                <a:spcPct val="0"/>
              </a:spcBef>
            </a:pPr>
            <a:endParaRPr lang="en-US" sz="2675" u="none" strike="noStrike">
              <a:solidFill>
                <a:srgbClr val="001F3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338209" b="-338209"/>
                </a:stretch>
              </a:blipFill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094811" y="613411"/>
            <a:ext cx="8429130" cy="192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9"/>
              </a:lnSpc>
            </a:pPr>
            <a:r>
              <a:rPr lang="en-US" sz="5535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Conjunto de datos Abiertos</a:t>
            </a:r>
          </a:p>
        </p:txBody>
      </p:sp>
      <p:sp>
        <p:nvSpPr>
          <p:cNvPr id="5" name="Freeform 5"/>
          <p:cNvSpPr/>
          <p:nvPr/>
        </p:nvSpPr>
        <p:spPr>
          <a:xfrm>
            <a:off x="3299790" y="525595"/>
            <a:ext cx="1590041" cy="2003272"/>
          </a:xfrm>
          <a:custGeom>
            <a:avLst/>
            <a:gdLst/>
            <a:ahLst/>
            <a:cxnLst/>
            <a:rect l="l" t="t" r="r" b="b"/>
            <a:pathLst>
              <a:path w="1590041" h="2003272">
                <a:moveTo>
                  <a:pt x="0" y="0"/>
                </a:moveTo>
                <a:lnTo>
                  <a:pt x="1590041" y="0"/>
                </a:lnTo>
                <a:lnTo>
                  <a:pt x="1590041" y="2003272"/>
                </a:lnTo>
                <a:lnTo>
                  <a:pt x="0" y="2003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6744" b="-27324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4968" b="-159331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33" t="-649904" r="-3489" b="-65434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3775226" y="5787517"/>
            <a:ext cx="4512774" cy="4499483"/>
          </a:xfrm>
          <a:custGeom>
            <a:avLst/>
            <a:gdLst/>
            <a:ahLst/>
            <a:cxnLst/>
            <a:rect l="l" t="t" r="r" b="b"/>
            <a:pathLst>
              <a:path w="4888652" h="4499483">
                <a:moveTo>
                  <a:pt x="0" y="0"/>
                </a:moveTo>
                <a:lnTo>
                  <a:pt x="4888652" y="0"/>
                </a:lnTo>
                <a:lnTo>
                  <a:pt x="4888652" y="4499483"/>
                </a:lnTo>
                <a:lnTo>
                  <a:pt x="0" y="4499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2973" b="-112973"/>
            </a:stretch>
          </a:blipFill>
        </p:spPr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28700" y="2122977"/>
          <a:ext cx="16340310" cy="7329082"/>
        </p:xfrm>
        <a:graphic>
          <a:graphicData uri="http://schemas.openxmlformats.org/drawingml/2006/table">
            <a:tbl>
              <a:tblPr/>
              <a:tblGrid>
                <a:gridCol w="12339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9509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Volúmen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Zonificación de aptitud para el cultivo comercial de cacao (Theobroma cacao L.) en Colombia.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169k filas, 9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674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Zonificación de aptitud para el cultivo comercial de granadilla (Passiflora ligularis Juss) para el mercado nacional y de exportación en Colombia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158k filas, 9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Zonificación de aptitud para el cultivo de café (Coffea arabica L.) en Colombia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508k filas, 9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Evaluación de Tierras con fines Agrícolas para el cultivo de Granadilla (Passiflora ligularis J.) de Nariño.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1.491 filas, 5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Evaluación de tierras con fines agrícolas para el cultivo de café (Coffea arabica L.) del Meta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848 filas, 5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Evaluación de Tierras para el cultivo tecnificado de cacao (Theobroma cacao) de Huila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3.233 filas, 9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Evaluación de Tierras con fines Agrícolas para el cultivo de Cacao (Theobroma cacao L.) de Nariño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1.366 filas, 5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5557"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Evaluación de Tierras con fines Agrícolas para el cultivo de Café (Coffea arabica) de Nariño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1.411 filas, 5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442679" y="420820"/>
            <a:ext cx="9818200" cy="192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9"/>
              </a:lnSpc>
            </a:pPr>
            <a:r>
              <a:rPr lang="en-US" sz="5535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Fuentes de Datos y APIs </a:t>
            </a:r>
          </a:p>
          <a:p>
            <a:pPr algn="ctr">
              <a:lnSpc>
                <a:spcPts val="7749"/>
              </a:lnSpc>
            </a:pPr>
            <a:r>
              <a:rPr lang="en-US" sz="5535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Externas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6744" b="-2732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4968" b="-15933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33" t="-649904" r="-3489" b="-65434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2282550">
            <a:off x="1238299" y="3324346"/>
            <a:ext cx="2142703" cy="1649882"/>
          </a:xfrm>
          <a:custGeom>
            <a:avLst/>
            <a:gdLst/>
            <a:ahLst/>
            <a:cxnLst/>
            <a:rect l="l" t="t" r="r" b="b"/>
            <a:pathLst>
              <a:path w="2142703" h="1649882">
                <a:moveTo>
                  <a:pt x="0" y="0"/>
                </a:moveTo>
                <a:lnTo>
                  <a:pt x="2142703" y="0"/>
                </a:lnTo>
                <a:lnTo>
                  <a:pt x="2142703" y="1649881"/>
                </a:lnTo>
                <a:lnTo>
                  <a:pt x="0" y="16498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5009" y="6798202"/>
            <a:ext cx="1449283" cy="1478861"/>
          </a:xfrm>
          <a:custGeom>
            <a:avLst/>
            <a:gdLst/>
            <a:ahLst/>
            <a:cxnLst/>
            <a:rect l="l" t="t" r="r" b="b"/>
            <a:pathLst>
              <a:path w="1449283" h="1478861">
                <a:moveTo>
                  <a:pt x="0" y="0"/>
                </a:moveTo>
                <a:lnTo>
                  <a:pt x="1449283" y="0"/>
                </a:lnTo>
                <a:lnTo>
                  <a:pt x="1449283" y="1478861"/>
                </a:lnTo>
                <a:lnTo>
                  <a:pt x="0" y="14788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40454" y="3399066"/>
            <a:ext cx="472621" cy="1602104"/>
          </a:xfrm>
          <a:custGeom>
            <a:avLst/>
            <a:gdLst/>
            <a:ahLst/>
            <a:cxnLst/>
            <a:rect l="l" t="t" r="r" b="b"/>
            <a:pathLst>
              <a:path w="472621" h="1602104">
                <a:moveTo>
                  <a:pt x="0" y="0"/>
                </a:moveTo>
                <a:lnTo>
                  <a:pt x="472621" y="0"/>
                </a:lnTo>
                <a:lnTo>
                  <a:pt x="472621" y="1602105"/>
                </a:lnTo>
                <a:lnTo>
                  <a:pt x="0" y="1602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714352" y="6798202"/>
            <a:ext cx="1803489" cy="1478861"/>
          </a:xfrm>
          <a:custGeom>
            <a:avLst/>
            <a:gdLst/>
            <a:ahLst/>
            <a:cxnLst/>
            <a:rect l="l" t="t" r="r" b="b"/>
            <a:pathLst>
              <a:path w="1803489" h="1478861">
                <a:moveTo>
                  <a:pt x="0" y="0"/>
                </a:moveTo>
                <a:lnTo>
                  <a:pt x="1803489" y="0"/>
                </a:lnTo>
                <a:lnTo>
                  <a:pt x="1803489" y="1478861"/>
                </a:lnTo>
                <a:lnTo>
                  <a:pt x="0" y="1478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661764" y="3736421"/>
            <a:ext cx="4507905" cy="41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58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NASA POWER y Open-Meteo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61764" y="4104868"/>
            <a:ext cx="4870219" cy="86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 agroclimáticas y pronósticos operativos en tiempo real.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79138" y="3592715"/>
            <a:ext cx="3730427" cy="41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58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IDEAM y SoilGrids ISRIC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79138" y="4002857"/>
            <a:ext cx="5480162" cy="130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Estaciones meteorológicas oficiales y caracterización detallada de perfiles de suelo por profundidad.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61764" y="6880679"/>
            <a:ext cx="1323479" cy="36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38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Mercado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61764" y="7262245"/>
            <a:ext cx="5070914" cy="86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Precios nacionales e internacionales (DANE SIPSA, Centroabastos, ICE).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79138" y="6779152"/>
            <a:ext cx="1512491" cy="41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58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Geografía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79138" y="7262245"/>
            <a:ext cx="4919244" cy="86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Cartografía oficial de Santander (IGAC/DANE).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338209" b="-338209"/>
                </a:stretch>
              </a:blip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3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987376" y="2187797"/>
            <a:ext cx="14817396" cy="7070503"/>
            <a:chOff x="0" y="0"/>
            <a:chExt cx="19756528" cy="94273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56528" cy="9427337"/>
            </a:xfrm>
            <a:custGeom>
              <a:avLst/>
              <a:gdLst/>
              <a:ahLst/>
              <a:cxnLst/>
              <a:rect l="l" t="t" r="r" b="b"/>
              <a:pathLst>
                <a:path w="19756528" h="9427337">
                  <a:moveTo>
                    <a:pt x="0" y="0"/>
                  </a:moveTo>
                  <a:lnTo>
                    <a:pt x="19756528" y="0"/>
                  </a:lnTo>
                  <a:lnTo>
                    <a:pt x="19756528" y="9427337"/>
                  </a:lnTo>
                  <a:lnTo>
                    <a:pt x="0" y="942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30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61269" y="1082885"/>
              <a:ext cx="718946" cy="644573"/>
            </a:xfrm>
            <a:custGeom>
              <a:avLst/>
              <a:gdLst/>
              <a:ahLst/>
              <a:cxnLst/>
              <a:rect l="l" t="t" r="r" b="b"/>
              <a:pathLst>
                <a:path w="718946" h="644573">
                  <a:moveTo>
                    <a:pt x="0" y="0"/>
                  </a:moveTo>
                  <a:lnTo>
                    <a:pt x="718947" y="0"/>
                  </a:lnTo>
                  <a:lnTo>
                    <a:pt x="718947" y="644573"/>
                  </a:lnTo>
                  <a:lnTo>
                    <a:pt x="0" y="64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325078" y="6457557"/>
              <a:ext cx="3111306" cy="1887862"/>
            </a:xfrm>
            <a:custGeom>
              <a:avLst/>
              <a:gdLst/>
              <a:ahLst/>
              <a:cxnLst/>
              <a:rect l="l" t="t" r="r" b="b"/>
              <a:pathLst>
                <a:path w="3111306" h="1887862">
                  <a:moveTo>
                    <a:pt x="0" y="0"/>
                  </a:moveTo>
                  <a:lnTo>
                    <a:pt x="3111306" y="0"/>
                  </a:lnTo>
                  <a:lnTo>
                    <a:pt x="3111306" y="1887862"/>
                  </a:lnTo>
                  <a:lnTo>
                    <a:pt x="0" y="1887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3652890" y="2433761"/>
              <a:ext cx="582126" cy="495343"/>
            </a:xfrm>
            <a:custGeom>
              <a:avLst/>
              <a:gdLst/>
              <a:ahLst/>
              <a:cxnLst/>
              <a:rect l="l" t="t" r="r" b="b"/>
              <a:pathLst>
                <a:path w="582126" h="495343">
                  <a:moveTo>
                    <a:pt x="0" y="0"/>
                  </a:moveTo>
                  <a:lnTo>
                    <a:pt x="582126" y="0"/>
                  </a:lnTo>
                  <a:lnTo>
                    <a:pt x="582126" y="495342"/>
                  </a:lnTo>
                  <a:lnTo>
                    <a:pt x="0" y="495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21" r="-10326" b="-812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776806" y="2474106"/>
              <a:ext cx="494745" cy="414653"/>
            </a:xfrm>
            <a:custGeom>
              <a:avLst/>
              <a:gdLst/>
              <a:ahLst/>
              <a:cxnLst/>
              <a:rect l="l" t="t" r="r" b="b"/>
              <a:pathLst>
                <a:path w="494745" h="414653">
                  <a:moveTo>
                    <a:pt x="0" y="0"/>
                  </a:moveTo>
                  <a:lnTo>
                    <a:pt x="494745" y="0"/>
                  </a:lnTo>
                  <a:lnTo>
                    <a:pt x="494745" y="414652"/>
                  </a:lnTo>
                  <a:lnTo>
                    <a:pt x="0" y="414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3776806" y="3733891"/>
              <a:ext cx="632156" cy="644573"/>
            </a:xfrm>
            <a:custGeom>
              <a:avLst/>
              <a:gdLst/>
              <a:ahLst/>
              <a:cxnLst/>
              <a:rect l="l" t="t" r="r" b="b"/>
              <a:pathLst>
                <a:path w="632156" h="644573">
                  <a:moveTo>
                    <a:pt x="0" y="0"/>
                  </a:moveTo>
                  <a:lnTo>
                    <a:pt x="632156" y="0"/>
                  </a:lnTo>
                  <a:lnTo>
                    <a:pt x="632156" y="644573"/>
                  </a:lnTo>
                  <a:lnTo>
                    <a:pt x="0" y="64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25" r="-3303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3799900" y="3763193"/>
              <a:ext cx="585969" cy="585969"/>
            </a:xfrm>
            <a:custGeom>
              <a:avLst/>
              <a:gdLst/>
              <a:ahLst/>
              <a:cxnLst/>
              <a:rect l="l" t="t" r="r" b="b"/>
              <a:pathLst>
                <a:path w="585969" h="585969">
                  <a:moveTo>
                    <a:pt x="0" y="0"/>
                  </a:moveTo>
                  <a:lnTo>
                    <a:pt x="585969" y="0"/>
                  </a:lnTo>
                  <a:lnTo>
                    <a:pt x="585969" y="585969"/>
                  </a:lnTo>
                  <a:lnTo>
                    <a:pt x="0" y="585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5999"/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3813440" y="5812985"/>
              <a:ext cx="718946" cy="644573"/>
            </a:xfrm>
            <a:custGeom>
              <a:avLst/>
              <a:gdLst/>
              <a:ahLst/>
              <a:cxnLst/>
              <a:rect l="l" t="t" r="r" b="b"/>
              <a:pathLst>
                <a:path w="718946" h="644573">
                  <a:moveTo>
                    <a:pt x="0" y="0"/>
                  </a:moveTo>
                  <a:lnTo>
                    <a:pt x="718946" y="0"/>
                  </a:lnTo>
                  <a:lnTo>
                    <a:pt x="718946" y="644572"/>
                  </a:lnTo>
                  <a:lnTo>
                    <a:pt x="0" y="644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799900" y="4491253"/>
              <a:ext cx="373013" cy="468326"/>
            </a:xfrm>
            <a:custGeom>
              <a:avLst/>
              <a:gdLst/>
              <a:ahLst/>
              <a:cxnLst/>
              <a:rect l="l" t="t" r="r" b="b"/>
              <a:pathLst>
                <a:path w="373013" h="468326">
                  <a:moveTo>
                    <a:pt x="0" y="0"/>
                  </a:moveTo>
                  <a:lnTo>
                    <a:pt x="373013" y="0"/>
                  </a:lnTo>
                  <a:lnTo>
                    <a:pt x="373013" y="468326"/>
                  </a:lnTo>
                  <a:lnTo>
                    <a:pt x="0" y="468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503" r="-16535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738600" y="4508315"/>
              <a:ext cx="410707" cy="410707"/>
            </a:xfrm>
            <a:custGeom>
              <a:avLst/>
              <a:gdLst/>
              <a:ahLst/>
              <a:cxnLst/>
              <a:rect l="l" t="t" r="r" b="b"/>
              <a:pathLst>
                <a:path w="410707" h="410707">
                  <a:moveTo>
                    <a:pt x="0" y="0"/>
                  </a:moveTo>
                  <a:lnTo>
                    <a:pt x="410706" y="0"/>
                  </a:lnTo>
                  <a:lnTo>
                    <a:pt x="410706" y="410707"/>
                  </a:lnTo>
                  <a:lnTo>
                    <a:pt x="0" y="41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2000"/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3738600" y="1784481"/>
              <a:ext cx="496417" cy="509580"/>
            </a:xfrm>
            <a:custGeom>
              <a:avLst/>
              <a:gdLst/>
              <a:ahLst/>
              <a:cxnLst/>
              <a:rect l="l" t="t" r="r" b="b"/>
              <a:pathLst>
                <a:path w="496417" h="509580">
                  <a:moveTo>
                    <a:pt x="0" y="0"/>
                  </a:moveTo>
                  <a:lnTo>
                    <a:pt x="496416" y="0"/>
                  </a:lnTo>
                  <a:lnTo>
                    <a:pt x="496416" y="509580"/>
                  </a:lnTo>
                  <a:lnTo>
                    <a:pt x="0" y="509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9" r="-13666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3366250" y="8345419"/>
              <a:ext cx="3021936" cy="720489"/>
            </a:xfrm>
            <a:custGeom>
              <a:avLst/>
              <a:gdLst/>
              <a:ahLst/>
              <a:cxnLst/>
              <a:rect l="l" t="t" r="r" b="b"/>
              <a:pathLst>
                <a:path w="3021936" h="720489">
                  <a:moveTo>
                    <a:pt x="0" y="0"/>
                  </a:moveTo>
                  <a:lnTo>
                    <a:pt x="3021936" y="0"/>
                  </a:lnTo>
                  <a:lnTo>
                    <a:pt x="3021936" y="720489"/>
                  </a:lnTo>
                  <a:lnTo>
                    <a:pt x="0" y="720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9732" b="-37114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7608672" y="5463251"/>
              <a:ext cx="2027896" cy="319764"/>
            </a:xfrm>
            <a:custGeom>
              <a:avLst/>
              <a:gdLst/>
              <a:ahLst/>
              <a:cxnLst/>
              <a:rect l="l" t="t" r="r" b="b"/>
              <a:pathLst>
                <a:path w="2027896" h="319764">
                  <a:moveTo>
                    <a:pt x="0" y="0"/>
                  </a:moveTo>
                  <a:lnTo>
                    <a:pt x="2027896" y="0"/>
                  </a:lnTo>
                  <a:lnTo>
                    <a:pt x="2027896" y="319764"/>
                  </a:lnTo>
                  <a:lnTo>
                    <a:pt x="0" y="31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944" t="-25549" r="-144617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3045178" y="849409"/>
            <a:ext cx="8638164" cy="105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6"/>
              </a:lnSpc>
            </a:pPr>
            <a:r>
              <a:rPr lang="en-US" sz="6225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Stack Tecnológico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46744" b="-273249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94968" b="-159331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833" t="-649904" r="-3489" b="-654346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13"/>
                <a:stretch>
                  <a:fillRect t="-338209" b="-338209"/>
                </a:stretch>
              </a:blip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301140" y="2668780"/>
            <a:ext cx="2990356" cy="2990356"/>
            <a:chOff x="0" y="0"/>
            <a:chExt cx="558800" cy="55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9AB800"/>
            </a:solidFill>
            <a:ln w="19050" cap="sq">
              <a:solidFill>
                <a:srgbClr val="6F6C6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440532" y="2668780"/>
            <a:ext cx="2990356" cy="2990356"/>
            <a:chOff x="0" y="0"/>
            <a:chExt cx="558800" cy="558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800080"/>
            </a:solidFill>
            <a:ln w="19050" cap="sq">
              <a:solidFill>
                <a:srgbClr val="6F6C6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5301140" y="5811201"/>
            <a:ext cx="2990356" cy="2990356"/>
            <a:chOff x="0" y="0"/>
            <a:chExt cx="558800" cy="558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800080"/>
            </a:solidFill>
            <a:ln w="19050" cap="sq">
              <a:solidFill>
                <a:srgbClr val="6F6C6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442169" y="5811201"/>
            <a:ext cx="2990356" cy="2990356"/>
            <a:chOff x="0" y="0"/>
            <a:chExt cx="5588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9AB800"/>
            </a:solidFill>
            <a:ln w="19050" cap="sq">
              <a:solidFill>
                <a:srgbClr val="6F6C6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6744" b="-273249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4968" b="-159331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33" t="-649904" r="-3489" b="-654346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1204971" y="3786303"/>
            <a:ext cx="3606575" cy="73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4761">
                <a:solidFill>
                  <a:srgbClr val="343430"/>
                </a:solidFill>
                <a:latin typeface="More Sugar"/>
                <a:ea typeface="More Sugar"/>
                <a:cs typeface="More Sugar"/>
                <a:sym typeface="More Sugar"/>
              </a:rPr>
              <a:t>Investigación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724521" y="4391684"/>
            <a:ext cx="44879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3" name="Freeform 23"/>
          <p:cNvSpPr/>
          <p:nvPr/>
        </p:nvSpPr>
        <p:spPr>
          <a:xfrm>
            <a:off x="9637912" y="3654244"/>
            <a:ext cx="820827" cy="983026"/>
          </a:xfrm>
          <a:custGeom>
            <a:avLst/>
            <a:gdLst/>
            <a:ahLst/>
            <a:cxnLst/>
            <a:rect l="l" t="t" r="r" b="b"/>
            <a:pathLst>
              <a:path w="820827" h="983026">
                <a:moveTo>
                  <a:pt x="0" y="0"/>
                </a:moveTo>
                <a:lnTo>
                  <a:pt x="820827" y="0"/>
                </a:lnTo>
                <a:lnTo>
                  <a:pt x="820827" y="983027"/>
                </a:lnTo>
                <a:lnTo>
                  <a:pt x="0" y="98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79399" y="3654244"/>
            <a:ext cx="1166834" cy="904297"/>
          </a:xfrm>
          <a:custGeom>
            <a:avLst/>
            <a:gdLst/>
            <a:ahLst/>
            <a:cxnLst/>
            <a:rect l="l" t="t" r="r" b="b"/>
            <a:pathLst>
              <a:path w="1166834" h="904297">
                <a:moveTo>
                  <a:pt x="0" y="0"/>
                </a:moveTo>
                <a:lnTo>
                  <a:pt x="1166834" y="0"/>
                </a:lnTo>
                <a:lnTo>
                  <a:pt x="1166834" y="904297"/>
                </a:lnTo>
                <a:lnTo>
                  <a:pt x="0" y="904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999051" y="3901012"/>
            <a:ext cx="2329632" cy="73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4761">
                <a:solidFill>
                  <a:srgbClr val="343430"/>
                </a:solidFill>
                <a:latin typeface="More Sugar"/>
                <a:ea typeface="More Sugar"/>
                <a:cs typeface="More Sugar"/>
                <a:sym typeface="More Sugar"/>
              </a:rPr>
              <a:t>Agrícola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2521981" y="4485968"/>
            <a:ext cx="3289442" cy="365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7" name="TextBox 27"/>
          <p:cNvSpPr txBox="1"/>
          <p:nvPr/>
        </p:nvSpPr>
        <p:spPr>
          <a:xfrm>
            <a:off x="11385215" y="6582751"/>
            <a:ext cx="4300098" cy="73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4761">
                <a:solidFill>
                  <a:srgbClr val="343430"/>
                </a:solidFill>
                <a:latin typeface="More Sugar"/>
                <a:ea typeface="More Sugar"/>
                <a:cs typeface="More Sugar"/>
                <a:sym typeface="More Sugar"/>
              </a:rPr>
              <a:t>Gubernamental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724521" y="7193134"/>
            <a:ext cx="5211179" cy="204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9" name="Freeform 29"/>
          <p:cNvSpPr/>
          <p:nvPr/>
        </p:nvSpPr>
        <p:spPr>
          <a:xfrm>
            <a:off x="9637912" y="6908106"/>
            <a:ext cx="821807" cy="821807"/>
          </a:xfrm>
          <a:custGeom>
            <a:avLst/>
            <a:gdLst/>
            <a:ahLst/>
            <a:cxnLst/>
            <a:rect l="l" t="t" r="r" b="b"/>
            <a:pathLst>
              <a:path w="821807" h="821807">
                <a:moveTo>
                  <a:pt x="0" y="0"/>
                </a:moveTo>
                <a:lnTo>
                  <a:pt x="821807" y="0"/>
                </a:lnTo>
                <a:lnTo>
                  <a:pt x="821807" y="821807"/>
                </a:lnTo>
                <a:lnTo>
                  <a:pt x="0" y="8218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698452" y="6582751"/>
            <a:ext cx="2790556" cy="736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4761" dirty="0">
                <a:solidFill>
                  <a:srgbClr val="343430"/>
                </a:solidFill>
                <a:latin typeface="More Sugar"/>
                <a:ea typeface="More Sugar"/>
                <a:cs typeface="More Sugar"/>
                <a:sym typeface="More Sugar"/>
              </a:rPr>
              <a:t>Comercio</a:t>
            </a:r>
          </a:p>
        </p:txBody>
      </p:sp>
      <p:sp>
        <p:nvSpPr>
          <p:cNvPr id="31" name="AutoShape 31"/>
          <p:cNvSpPr/>
          <p:nvPr/>
        </p:nvSpPr>
        <p:spPr>
          <a:xfrm>
            <a:off x="2352226" y="7213579"/>
            <a:ext cx="362328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2" name="Freeform 32"/>
          <p:cNvSpPr/>
          <p:nvPr/>
        </p:nvSpPr>
        <p:spPr>
          <a:xfrm>
            <a:off x="6182671" y="6908106"/>
            <a:ext cx="960290" cy="902673"/>
          </a:xfrm>
          <a:custGeom>
            <a:avLst/>
            <a:gdLst/>
            <a:ahLst/>
            <a:cxnLst/>
            <a:rect l="l" t="t" r="r" b="b"/>
            <a:pathLst>
              <a:path w="960290" h="902673">
                <a:moveTo>
                  <a:pt x="0" y="0"/>
                </a:moveTo>
                <a:lnTo>
                  <a:pt x="960290" y="0"/>
                </a:lnTo>
                <a:lnTo>
                  <a:pt x="960290" y="902673"/>
                </a:lnTo>
                <a:lnTo>
                  <a:pt x="0" y="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999051" y="848803"/>
            <a:ext cx="9086757" cy="106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8"/>
              </a:lnSpc>
            </a:pPr>
            <a:r>
              <a:rPr lang="en-US" sz="6234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Campos de aplicación 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13"/>
                <a:stretch>
                  <a:fillRect t="-338209" b="-338209"/>
                </a:stretch>
              </a:blip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476887" y="3623691"/>
            <a:ext cx="3328442" cy="2068291"/>
          </a:xfrm>
          <a:custGeom>
            <a:avLst/>
            <a:gdLst/>
            <a:ahLst/>
            <a:cxnLst/>
            <a:rect l="l" t="t" r="r" b="b"/>
            <a:pathLst>
              <a:path w="3328442" h="2068291">
                <a:moveTo>
                  <a:pt x="0" y="0"/>
                </a:moveTo>
                <a:lnTo>
                  <a:pt x="3328442" y="0"/>
                </a:lnTo>
                <a:lnTo>
                  <a:pt x="3328442" y="2068291"/>
                </a:lnTo>
                <a:lnTo>
                  <a:pt x="0" y="2068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79722" y="0"/>
            <a:ext cx="12951682" cy="2816715"/>
            <a:chOff x="0" y="0"/>
            <a:chExt cx="17268909" cy="37556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42262" cy="3755620"/>
            </a:xfrm>
            <a:custGeom>
              <a:avLst/>
              <a:gdLst/>
              <a:ahLst/>
              <a:cxnLst/>
              <a:rect l="l" t="t" r="r" b="b"/>
              <a:pathLst>
                <a:path w="3242262" h="3755620">
                  <a:moveTo>
                    <a:pt x="0" y="0"/>
                  </a:moveTo>
                  <a:lnTo>
                    <a:pt x="3242262" y="0"/>
                  </a:lnTo>
                  <a:lnTo>
                    <a:pt x="3242262" y="3755620"/>
                  </a:lnTo>
                  <a:lnTo>
                    <a:pt x="0" y="37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255758" y="1185941"/>
              <a:ext cx="8676397" cy="1932745"/>
            </a:xfrm>
            <a:custGeom>
              <a:avLst/>
              <a:gdLst/>
              <a:ahLst/>
              <a:cxnLst/>
              <a:rect l="l" t="t" r="r" b="b"/>
              <a:pathLst>
                <a:path w="8676397" h="1932745">
                  <a:moveTo>
                    <a:pt x="0" y="0"/>
                  </a:moveTo>
                  <a:lnTo>
                    <a:pt x="8676396" y="0"/>
                  </a:lnTo>
                  <a:lnTo>
                    <a:pt x="8676396" y="1932745"/>
                  </a:lnTo>
                  <a:lnTo>
                    <a:pt x="0" y="193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6744" b="-2732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466782" y="1250170"/>
              <a:ext cx="8802126" cy="1839403"/>
            </a:xfrm>
            <a:custGeom>
              <a:avLst/>
              <a:gdLst/>
              <a:ahLst/>
              <a:cxnLst/>
              <a:rect l="l" t="t" r="r" b="b"/>
              <a:pathLst>
                <a:path w="8802126" h="1839403">
                  <a:moveTo>
                    <a:pt x="0" y="0"/>
                  </a:moveTo>
                  <a:lnTo>
                    <a:pt x="8802127" y="0"/>
                  </a:lnTo>
                  <a:lnTo>
                    <a:pt x="8802127" y="1839403"/>
                  </a:lnTo>
                  <a:lnTo>
                    <a:pt x="0" y="183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4968" b="-15933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21448" y="2581433"/>
              <a:ext cx="13141020" cy="1174186"/>
            </a:xfrm>
            <a:custGeom>
              <a:avLst/>
              <a:gdLst/>
              <a:ahLst/>
              <a:cxnLst/>
              <a:rect l="l" t="t" r="r" b="b"/>
              <a:pathLst>
                <a:path w="13141020" h="1174186">
                  <a:moveTo>
                    <a:pt x="0" y="0"/>
                  </a:moveTo>
                  <a:lnTo>
                    <a:pt x="13141019" y="0"/>
                  </a:lnTo>
                  <a:lnTo>
                    <a:pt x="13141019" y="1174187"/>
                  </a:lnTo>
                  <a:lnTo>
                    <a:pt x="0" y="1174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33" t="-649904" r="-3489" b="-65434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323490" y="3530554"/>
            <a:ext cx="3537932" cy="2254565"/>
          </a:xfrm>
          <a:custGeom>
            <a:avLst/>
            <a:gdLst/>
            <a:ahLst/>
            <a:cxnLst/>
            <a:rect l="l" t="t" r="r" b="b"/>
            <a:pathLst>
              <a:path w="3537932" h="2254565">
                <a:moveTo>
                  <a:pt x="0" y="0"/>
                </a:moveTo>
                <a:lnTo>
                  <a:pt x="3537932" y="0"/>
                </a:lnTo>
                <a:lnTo>
                  <a:pt x="3537932" y="2254565"/>
                </a:lnTo>
                <a:lnTo>
                  <a:pt x="0" y="2254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24454" y="3623691"/>
            <a:ext cx="3342139" cy="2068291"/>
          </a:xfrm>
          <a:custGeom>
            <a:avLst/>
            <a:gdLst/>
            <a:ahLst/>
            <a:cxnLst/>
            <a:rect l="l" t="t" r="r" b="b"/>
            <a:pathLst>
              <a:path w="3342139" h="2068291">
                <a:moveTo>
                  <a:pt x="0" y="0"/>
                </a:moveTo>
                <a:lnTo>
                  <a:pt x="3342139" y="0"/>
                </a:lnTo>
                <a:lnTo>
                  <a:pt x="3342139" y="2068291"/>
                </a:lnTo>
                <a:lnTo>
                  <a:pt x="0" y="2068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311" t="-17324" r="-41526" b="-23473"/>
            </a:stretch>
          </a:blipFill>
          <a:ln w="19050" cap="rnd">
            <a:solidFill>
              <a:srgbClr val="DCD7E5"/>
            </a:solidFill>
            <a:prstDash val="solid"/>
            <a:round/>
          </a:ln>
        </p:spPr>
      </p:sp>
      <p:sp>
        <p:nvSpPr>
          <p:cNvPr id="12" name="Freeform 12"/>
          <p:cNvSpPr/>
          <p:nvPr/>
        </p:nvSpPr>
        <p:spPr>
          <a:xfrm>
            <a:off x="13385718" y="3682567"/>
            <a:ext cx="3247002" cy="2009415"/>
          </a:xfrm>
          <a:custGeom>
            <a:avLst/>
            <a:gdLst/>
            <a:ahLst/>
            <a:cxnLst/>
            <a:rect l="l" t="t" r="r" b="b"/>
            <a:pathLst>
              <a:path w="3247002" h="2009415">
                <a:moveTo>
                  <a:pt x="0" y="0"/>
                </a:moveTo>
                <a:lnTo>
                  <a:pt x="3247001" y="0"/>
                </a:lnTo>
                <a:lnTo>
                  <a:pt x="3247001" y="2009415"/>
                </a:lnTo>
                <a:lnTo>
                  <a:pt x="0" y="200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98714" y="6927037"/>
            <a:ext cx="3656691" cy="170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813" b="1">
                <a:solidFill>
                  <a:srgbClr val="0F1F39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Los 87 municipios con selección geográfica, clasificación agroecológica y niveles de riesgo diferenciados por cultivo.</a:t>
            </a:r>
          </a:p>
          <a:p>
            <a:pPr algn="l">
              <a:lnSpc>
                <a:spcPts val="2720"/>
              </a:lnSpc>
            </a:pPr>
            <a:endParaRPr lang="en-US" sz="1813" b="1">
              <a:solidFill>
                <a:srgbClr val="0F1F39"/>
              </a:solidFill>
              <a:latin typeface="Trebuchet MS Bold"/>
              <a:ea typeface="Trebuchet MS Bold"/>
              <a:cs typeface="Trebuchet MS Bold"/>
              <a:sym typeface="Trebuchet M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76445" y="6927037"/>
            <a:ext cx="3656691" cy="170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813" b="1">
                <a:solidFill>
                  <a:srgbClr val="0F1F39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Contraste entre series reales y proyecciones estadísticas con intervalos de confianza del 80% y 95%.</a:t>
            </a:r>
          </a:p>
          <a:p>
            <a:pPr algn="l">
              <a:lnSpc>
                <a:spcPts val="2720"/>
              </a:lnSpc>
            </a:pPr>
            <a:endParaRPr lang="en-US" sz="1813" b="1">
              <a:solidFill>
                <a:srgbClr val="0F1F39"/>
              </a:solidFill>
              <a:latin typeface="Trebuchet MS Bold"/>
              <a:ea typeface="Trebuchet MS Bold"/>
              <a:cs typeface="Trebuchet MS Bold"/>
              <a:sym typeface="Trebuchet M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14425" y="6927037"/>
            <a:ext cx="3904933" cy="238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813" b="1">
                <a:solidFill>
                  <a:srgbClr val="0F1F39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Asistente virtual inteligente que puede verificar la ubicación, responder dudas, evaluar la calidad de los cultivos y ofrecer recomendaciones agronómicas.</a:t>
            </a:r>
          </a:p>
          <a:p>
            <a:pPr algn="l">
              <a:lnSpc>
                <a:spcPts val="2720"/>
              </a:lnSpc>
            </a:pPr>
            <a:endParaRPr lang="en-US" sz="1813" b="1">
              <a:solidFill>
                <a:srgbClr val="0F1F39"/>
              </a:solidFill>
              <a:latin typeface="Trebuchet MS Bold"/>
              <a:ea typeface="Trebuchet MS Bold"/>
              <a:cs typeface="Trebuchet MS Bold"/>
              <a:sym typeface="Trebuchet MS Bold"/>
            </a:endParaRPr>
          </a:p>
          <a:p>
            <a:pPr algn="l">
              <a:lnSpc>
                <a:spcPts val="2720"/>
              </a:lnSpc>
            </a:pPr>
            <a:endParaRPr lang="en-US" sz="1813" b="1">
              <a:solidFill>
                <a:srgbClr val="0F1F39"/>
              </a:solidFill>
              <a:latin typeface="Trebuchet MS Bold"/>
              <a:ea typeface="Trebuchet MS Bold"/>
              <a:cs typeface="Trebuchet MS Bold"/>
              <a:sym typeface="Trebuchet M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643208" y="6927037"/>
            <a:ext cx="3767552" cy="135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813" b="1">
                <a:solidFill>
                  <a:srgbClr val="0F1F39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Consulta clima en vivo, validación satelital, estaciones oficiales y perfiles de suelo.</a:t>
            </a:r>
          </a:p>
          <a:p>
            <a:pPr algn="l">
              <a:lnSpc>
                <a:spcPts val="2720"/>
              </a:lnSpc>
            </a:pPr>
            <a:endParaRPr lang="en-US" sz="1813" b="1">
              <a:solidFill>
                <a:srgbClr val="0F1F39"/>
              </a:solidFill>
              <a:latin typeface="Trebuchet MS Bold"/>
              <a:ea typeface="Trebuchet MS Bold"/>
              <a:cs typeface="Trebuchet MS Bold"/>
              <a:sym typeface="Trebuchet M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23490" y="6081391"/>
            <a:ext cx="2713137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Mapa Interactivo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01220" y="6081391"/>
            <a:ext cx="3679775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Histórico vs. Predicción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6772" y="6081391"/>
            <a:ext cx="3630910" cy="129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Chatbot Agroclimático </a:t>
            </a:r>
          </a:p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 IA</a:t>
            </a:r>
          </a:p>
          <a:p>
            <a:pPr algn="ctr">
              <a:lnSpc>
                <a:spcPts val="3496"/>
              </a:lnSpc>
            </a:pPr>
            <a:endParaRPr lang="en-US" sz="2497" b="1">
              <a:solidFill>
                <a:srgbClr val="7D228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800646" y="6081391"/>
            <a:ext cx="2770138" cy="129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APIs y Monitoreo </a:t>
            </a:r>
          </a:p>
          <a:p>
            <a:pPr algn="ctr">
              <a:lnSpc>
                <a:spcPts val="3496"/>
              </a:lnSpc>
            </a:pPr>
            <a:r>
              <a:rPr lang="en-US" sz="2497" b="1">
                <a:solidFill>
                  <a:srgbClr val="7D22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Externo</a:t>
            </a:r>
          </a:p>
          <a:p>
            <a:pPr algn="ctr">
              <a:lnSpc>
                <a:spcPts val="3496"/>
              </a:lnSpc>
            </a:pPr>
            <a:endParaRPr lang="en-US" sz="2497" b="1">
              <a:solidFill>
                <a:srgbClr val="7D228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9"/>
                <a:stretch>
                  <a:fillRect t="-338209" b="-338209"/>
                </a:stretch>
              </a:blip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13348" y="3049830"/>
            <a:ext cx="4911933" cy="5520544"/>
            <a:chOff x="0" y="0"/>
            <a:chExt cx="1293678" cy="14539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3678" cy="1453970"/>
            </a:xfrm>
            <a:custGeom>
              <a:avLst/>
              <a:gdLst/>
              <a:ahLst/>
              <a:cxnLst/>
              <a:rect l="l" t="t" r="r" b="b"/>
              <a:pathLst>
                <a:path w="1293678" h="1453970">
                  <a:moveTo>
                    <a:pt x="80383" y="0"/>
                  </a:moveTo>
                  <a:lnTo>
                    <a:pt x="1213294" y="0"/>
                  </a:lnTo>
                  <a:cubicBezTo>
                    <a:pt x="1257689" y="0"/>
                    <a:pt x="1293678" y="35989"/>
                    <a:pt x="1293678" y="80383"/>
                  </a:cubicBezTo>
                  <a:lnTo>
                    <a:pt x="1293678" y="1373587"/>
                  </a:lnTo>
                  <a:cubicBezTo>
                    <a:pt x="1293678" y="1417982"/>
                    <a:pt x="1257689" y="1453970"/>
                    <a:pt x="1213294" y="1453970"/>
                  </a:cubicBezTo>
                  <a:lnTo>
                    <a:pt x="80383" y="1453970"/>
                  </a:lnTo>
                  <a:cubicBezTo>
                    <a:pt x="35989" y="1453970"/>
                    <a:pt x="0" y="1417982"/>
                    <a:pt x="0" y="1373587"/>
                  </a:cubicBezTo>
                  <a:lnTo>
                    <a:pt x="0" y="80383"/>
                  </a:lnTo>
                  <a:cubicBezTo>
                    <a:pt x="0" y="35989"/>
                    <a:pt x="35989" y="0"/>
                    <a:pt x="80383" y="0"/>
                  </a:cubicBezTo>
                  <a:close/>
                </a:path>
              </a:pathLst>
            </a:custGeom>
            <a:ln w="57150" cap="rnd">
              <a:solidFill>
                <a:srgbClr val="80208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293678" cy="146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62379" y="3497380"/>
            <a:ext cx="1310465" cy="1264599"/>
          </a:xfrm>
          <a:custGeom>
            <a:avLst/>
            <a:gdLst/>
            <a:ahLst/>
            <a:cxnLst/>
            <a:rect l="l" t="t" r="r" b="b"/>
            <a:pathLst>
              <a:path w="1310465" h="1264599">
                <a:moveTo>
                  <a:pt x="0" y="0"/>
                </a:moveTo>
                <a:lnTo>
                  <a:pt x="1310464" y="0"/>
                </a:lnTo>
                <a:lnTo>
                  <a:pt x="1310464" y="1264599"/>
                </a:lnTo>
                <a:lnTo>
                  <a:pt x="0" y="126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688033" y="3049830"/>
            <a:ext cx="4911933" cy="5520544"/>
            <a:chOff x="0" y="0"/>
            <a:chExt cx="1293678" cy="14539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3678" cy="1453970"/>
            </a:xfrm>
            <a:custGeom>
              <a:avLst/>
              <a:gdLst/>
              <a:ahLst/>
              <a:cxnLst/>
              <a:rect l="l" t="t" r="r" b="b"/>
              <a:pathLst>
                <a:path w="1293678" h="1453970">
                  <a:moveTo>
                    <a:pt x="80383" y="0"/>
                  </a:moveTo>
                  <a:lnTo>
                    <a:pt x="1213294" y="0"/>
                  </a:lnTo>
                  <a:cubicBezTo>
                    <a:pt x="1257689" y="0"/>
                    <a:pt x="1293678" y="35989"/>
                    <a:pt x="1293678" y="80383"/>
                  </a:cubicBezTo>
                  <a:lnTo>
                    <a:pt x="1293678" y="1373587"/>
                  </a:lnTo>
                  <a:cubicBezTo>
                    <a:pt x="1293678" y="1417982"/>
                    <a:pt x="1257689" y="1453970"/>
                    <a:pt x="1213294" y="1453970"/>
                  </a:cubicBezTo>
                  <a:lnTo>
                    <a:pt x="80383" y="1453970"/>
                  </a:lnTo>
                  <a:cubicBezTo>
                    <a:pt x="35989" y="1453970"/>
                    <a:pt x="0" y="1417982"/>
                    <a:pt x="0" y="1373587"/>
                  </a:cubicBezTo>
                  <a:lnTo>
                    <a:pt x="0" y="80383"/>
                  </a:lnTo>
                  <a:cubicBezTo>
                    <a:pt x="0" y="35989"/>
                    <a:pt x="35989" y="0"/>
                    <a:pt x="80383" y="0"/>
                  </a:cubicBezTo>
                  <a:close/>
                </a:path>
              </a:pathLst>
            </a:custGeom>
            <a:ln w="57150" cap="rnd">
              <a:solidFill>
                <a:srgbClr val="80208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93678" cy="146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62719" y="3049830"/>
            <a:ext cx="4911933" cy="5520544"/>
            <a:chOff x="0" y="0"/>
            <a:chExt cx="1293678" cy="14539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3678" cy="1453970"/>
            </a:xfrm>
            <a:custGeom>
              <a:avLst/>
              <a:gdLst/>
              <a:ahLst/>
              <a:cxnLst/>
              <a:rect l="l" t="t" r="r" b="b"/>
              <a:pathLst>
                <a:path w="1293678" h="1453970">
                  <a:moveTo>
                    <a:pt x="80383" y="0"/>
                  </a:moveTo>
                  <a:lnTo>
                    <a:pt x="1213294" y="0"/>
                  </a:lnTo>
                  <a:cubicBezTo>
                    <a:pt x="1257689" y="0"/>
                    <a:pt x="1293678" y="35989"/>
                    <a:pt x="1293678" y="80383"/>
                  </a:cubicBezTo>
                  <a:lnTo>
                    <a:pt x="1293678" y="1373587"/>
                  </a:lnTo>
                  <a:cubicBezTo>
                    <a:pt x="1293678" y="1417982"/>
                    <a:pt x="1257689" y="1453970"/>
                    <a:pt x="1213294" y="1453970"/>
                  </a:cubicBezTo>
                  <a:lnTo>
                    <a:pt x="80383" y="1453970"/>
                  </a:lnTo>
                  <a:cubicBezTo>
                    <a:pt x="35989" y="1453970"/>
                    <a:pt x="0" y="1417982"/>
                    <a:pt x="0" y="1373587"/>
                  </a:cubicBezTo>
                  <a:lnTo>
                    <a:pt x="0" y="80383"/>
                  </a:lnTo>
                  <a:cubicBezTo>
                    <a:pt x="0" y="35989"/>
                    <a:pt x="35989" y="0"/>
                    <a:pt x="80383" y="0"/>
                  </a:cubicBezTo>
                  <a:close/>
                </a:path>
              </a:pathLst>
            </a:custGeom>
            <a:ln w="57150" cap="rnd">
              <a:solidFill>
                <a:srgbClr val="80208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293678" cy="146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213348" y="5004358"/>
            <a:ext cx="4911933" cy="0"/>
          </a:xfrm>
          <a:prstGeom prst="line">
            <a:avLst/>
          </a:prstGeom>
          <a:ln w="38100" cap="flat">
            <a:solidFill>
              <a:srgbClr val="8020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2161942" y="4985308"/>
            <a:ext cx="4911933" cy="0"/>
          </a:xfrm>
          <a:prstGeom prst="line">
            <a:avLst/>
          </a:prstGeom>
          <a:ln w="38100" cap="flat">
            <a:solidFill>
              <a:srgbClr val="8020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6688033" y="4985308"/>
            <a:ext cx="4911933" cy="0"/>
          </a:xfrm>
          <a:prstGeom prst="line">
            <a:avLst/>
          </a:prstGeom>
          <a:ln w="38100" cap="flat">
            <a:solidFill>
              <a:srgbClr val="8020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300668" y="3334666"/>
            <a:ext cx="1603723" cy="1427313"/>
          </a:xfrm>
          <a:custGeom>
            <a:avLst/>
            <a:gdLst/>
            <a:ahLst/>
            <a:cxnLst/>
            <a:rect l="l" t="t" r="r" b="b"/>
            <a:pathLst>
              <a:path w="1603723" h="1427313">
                <a:moveTo>
                  <a:pt x="0" y="0"/>
                </a:moveTo>
                <a:lnTo>
                  <a:pt x="1603723" y="0"/>
                </a:lnTo>
                <a:lnTo>
                  <a:pt x="1603723" y="1427313"/>
                </a:lnTo>
                <a:lnTo>
                  <a:pt x="0" y="1427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683342" y="0"/>
            <a:ext cx="6604658" cy="1436372"/>
            <a:chOff x="0" y="0"/>
            <a:chExt cx="8806211" cy="19151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53378" cy="1915163"/>
            </a:xfrm>
            <a:custGeom>
              <a:avLst/>
              <a:gdLst/>
              <a:ahLst/>
              <a:cxnLst/>
              <a:rect l="l" t="t" r="r" b="b"/>
              <a:pathLst>
                <a:path w="1653378" h="1915163">
                  <a:moveTo>
                    <a:pt x="0" y="0"/>
                  </a:moveTo>
                  <a:lnTo>
                    <a:pt x="1653378" y="0"/>
                  </a:lnTo>
                  <a:lnTo>
                    <a:pt x="1653378" y="1915163"/>
                  </a:lnTo>
                  <a:lnTo>
                    <a:pt x="0" y="191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150315" y="604766"/>
              <a:ext cx="4424494" cy="985596"/>
            </a:xfrm>
            <a:custGeom>
              <a:avLst/>
              <a:gdLst/>
              <a:ahLst/>
              <a:cxnLst/>
              <a:rect l="l" t="t" r="r" b="b"/>
              <a:pathLst>
                <a:path w="4424494" h="985596">
                  <a:moveTo>
                    <a:pt x="0" y="0"/>
                  </a:moveTo>
                  <a:lnTo>
                    <a:pt x="4424493" y="0"/>
                  </a:lnTo>
                  <a:lnTo>
                    <a:pt x="4424493" y="985596"/>
                  </a:lnTo>
                  <a:lnTo>
                    <a:pt x="0" y="9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6744" b="-273249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4317602" y="637519"/>
              <a:ext cx="4488609" cy="937996"/>
            </a:xfrm>
            <a:custGeom>
              <a:avLst/>
              <a:gdLst/>
              <a:ahLst/>
              <a:cxnLst/>
              <a:rect l="l" t="t" r="r" b="b"/>
              <a:pathLst>
                <a:path w="4488609" h="937996">
                  <a:moveTo>
                    <a:pt x="0" y="0"/>
                  </a:moveTo>
                  <a:lnTo>
                    <a:pt x="4488609" y="0"/>
                  </a:lnTo>
                  <a:lnTo>
                    <a:pt x="4488609" y="937996"/>
                  </a:lnTo>
                  <a:lnTo>
                    <a:pt x="0" y="93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94968" b="-15933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336797" y="1316392"/>
              <a:ext cx="6701211" cy="598772"/>
            </a:xfrm>
            <a:custGeom>
              <a:avLst/>
              <a:gdLst/>
              <a:ahLst/>
              <a:cxnLst/>
              <a:rect l="l" t="t" r="r" b="b"/>
              <a:pathLst>
                <a:path w="6701211" h="598772">
                  <a:moveTo>
                    <a:pt x="0" y="0"/>
                  </a:moveTo>
                  <a:lnTo>
                    <a:pt x="6701210" y="0"/>
                  </a:lnTo>
                  <a:lnTo>
                    <a:pt x="6701210" y="598771"/>
                  </a:lnTo>
                  <a:lnTo>
                    <a:pt x="0" y="59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833" t="-649904" r="-3489" b="-654346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4088022" y="3363595"/>
            <a:ext cx="1061327" cy="1369454"/>
          </a:xfrm>
          <a:custGeom>
            <a:avLst/>
            <a:gdLst/>
            <a:ahLst/>
            <a:cxnLst/>
            <a:rect l="l" t="t" r="r" b="b"/>
            <a:pathLst>
              <a:path w="1061327" h="1369454">
                <a:moveTo>
                  <a:pt x="0" y="0"/>
                </a:moveTo>
                <a:lnTo>
                  <a:pt x="1061327" y="0"/>
                </a:lnTo>
                <a:lnTo>
                  <a:pt x="1061327" y="1369454"/>
                </a:lnTo>
                <a:lnTo>
                  <a:pt x="0" y="1369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525793" y="5509788"/>
            <a:ext cx="4287042" cy="2114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sz="265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Incorporación de cultivos clave como cítricos, aguacate hass, caña, palma de aceite y hortalizas.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33675" y="1492959"/>
            <a:ext cx="9882842" cy="122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50"/>
              </a:lnSpc>
            </a:pPr>
            <a:r>
              <a:rPr lang="en-US" sz="7107">
                <a:solidFill>
                  <a:srgbClr val="7D228B"/>
                </a:solidFill>
                <a:latin typeface="More Sugar"/>
                <a:ea typeface="More Sugar"/>
                <a:cs typeface="More Sugar"/>
                <a:sym typeface="More Sugar"/>
              </a:rPr>
              <a:t>Alcance a futuro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4256" y="5262138"/>
            <a:ext cx="4599488" cy="283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235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Implementación en organizaciones gubernamentales como MinAgricultura, Agrosavia, UPRA y  del gremio como Cenicafé, Fedecacao y Asohofrucol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76267" y="5776488"/>
            <a:ext cx="4287042" cy="158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sz="265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Expansión a nivel nacional, incluyendo departamentos estratégicos.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919476" y="8940900"/>
            <a:ext cx="4368524" cy="1125301"/>
            <a:chOff x="0" y="0"/>
            <a:chExt cx="5824699" cy="1500401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824699" cy="1500401"/>
              <a:chOff x="0" y="0"/>
              <a:chExt cx="670948" cy="17283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70948" cy="172831"/>
              </a:xfrm>
              <a:custGeom>
                <a:avLst/>
                <a:gdLst/>
                <a:ahLst/>
                <a:cxnLst/>
                <a:rect l="l" t="t" r="r" b="b"/>
                <a:pathLst>
                  <a:path w="670948" h="172831">
                    <a:moveTo>
                      <a:pt x="0" y="0"/>
                    </a:moveTo>
                    <a:lnTo>
                      <a:pt x="670948" y="0"/>
                    </a:lnTo>
                    <a:lnTo>
                      <a:pt x="670948" y="172831"/>
                    </a:lnTo>
                    <a:lnTo>
                      <a:pt x="0" y="172831"/>
                    </a:lnTo>
                    <a:close/>
                  </a:path>
                </a:pathLst>
              </a:custGeom>
              <a:blipFill>
                <a:blip r:embed="rId11"/>
                <a:stretch>
                  <a:fillRect t="-338209" b="-338209"/>
                </a:stretch>
              </a:blip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673376" y="118065"/>
              <a:ext cx="4248590" cy="1264270"/>
              <a:chOff x="0" y="0"/>
              <a:chExt cx="1282634" cy="38167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82634" cy="381679"/>
              </a:xfrm>
              <a:custGeom>
                <a:avLst/>
                <a:gdLst/>
                <a:ahLst/>
                <a:cxnLst/>
                <a:rect l="l" t="t" r="r" b="b"/>
                <a:pathLst>
                  <a:path w="1282634" h="381679">
                    <a:moveTo>
                      <a:pt x="0" y="0"/>
                    </a:moveTo>
                    <a:lnTo>
                      <a:pt x="1282634" y="0"/>
                    </a:lnTo>
                    <a:lnTo>
                      <a:pt x="1282634" y="381679"/>
                    </a:lnTo>
                    <a:lnTo>
                      <a:pt x="0" y="381679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1872" b="-1872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592</Words>
  <Application>Microsoft Office PowerPoint</Application>
  <PresentationFormat>Personalizado</PresentationFormat>
  <Paragraphs>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Trebuchet MS Bold</vt:lpstr>
      <vt:lpstr>Arial</vt:lpstr>
      <vt:lpstr>Open Sans Bold</vt:lpstr>
      <vt:lpstr>More Sugar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SembraData</dc:title>
  <cp:lastModifiedBy>Andrea Vargas</cp:lastModifiedBy>
  <cp:revision>2</cp:revision>
  <dcterms:created xsi:type="dcterms:W3CDTF">2006-08-16T00:00:00Z</dcterms:created>
  <dcterms:modified xsi:type="dcterms:W3CDTF">2026-09-21T03:52:23Z</dcterms:modified>
  <dc:identifier>DAHTiy0LsJc</dc:identifier>
</cp:coreProperties>
</file>