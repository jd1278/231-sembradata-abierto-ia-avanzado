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Bold"/>
      <p:regular r:id="rId201314"/>
    </p:embeddedFont>
    <p:embeddedFont>
      <p:font typeface="Bricolage Grotesque ExtraBold"/>
      <p:regular r:id="rId201315"/>
    </p:embeddedFont>
    <p:embeddedFont>
      <p:font typeface="Bricolage Grotesque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  <p:embeddedFont>
      <p:font typeface="Montserrat Extra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54984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SembraData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05433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Predicción Agroclimática Inteligente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25219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web interactiva de analítica predictiva para el departamento de Santander, Colombia.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 municipios · 3 cultivos · IA integrada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4092104"/>
            <a:ext cx="1129308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4134594"/>
            <a:ext cx="14163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JERSON MUÑOZ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96269" y="4092104"/>
            <a:ext cx="1072530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9" name="Text 6"/>
          <p:cNvSpPr/>
          <p:nvPr/>
        </p:nvSpPr>
        <p:spPr>
          <a:xfrm>
            <a:off x="1781324" y="4134594"/>
            <a:ext cx="13596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JUAN PAREDES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39641" y="4092104"/>
            <a:ext cx="1182663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11" name="Text 8"/>
          <p:cNvSpPr/>
          <p:nvPr/>
        </p:nvSpPr>
        <p:spPr>
          <a:xfrm>
            <a:off x="2924696" y="4134594"/>
            <a:ext cx="14697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ANDREA VARGAS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93146" y="4092104"/>
            <a:ext cx="911796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13" name="Text 10"/>
          <p:cNvSpPr/>
          <p:nvPr/>
        </p:nvSpPr>
        <p:spPr>
          <a:xfrm>
            <a:off x="4178201" y="4134594"/>
            <a:ext cx="11988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DIEGO CRUZ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4378300"/>
            <a:ext cx="9525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174" y="4420791"/>
            <a:ext cx="12395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 MIT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226"/>
            <a:ext cx="818406" cy="151358"/>
          </a:xfrm>
          <a:prstGeom prst="roundRect">
            <a:avLst>
              <a:gd name="adj" fmla="val 22128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55873" y="436066"/>
            <a:ext cx="1156097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VISIÓN GENERAL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5564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¿Qué es SembraData?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0939"/>
            <a:ext cx="5213524" cy="2932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7590" y="2207716"/>
            <a:ext cx="2694980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SembraData integra clima y condiciones ambientales necesarias para la producción, en una única interfaz con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inteligencia artificial conversacional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diseñada para responsables de proyectos y autoridades agrícolas.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6119" y="4171131"/>
            <a:ext cx="2670572" cy="566142"/>
          </a:xfrm>
          <a:prstGeom prst="roundRect">
            <a:avLst>
              <a:gd name="adj" fmla="val 7395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046" y="4285059"/>
            <a:ext cx="2442716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Cobertura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0046" y="4487540"/>
            <a:ext cx="244271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 municipios de Santander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36714" y="4171131"/>
            <a:ext cx="2670572" cy="566142"/>
          </a:xfrm>
          <a:prstGeom prst="roundRect">
            <a:avLst>
              <a:gd name="adj" fmla="val 7395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0642" y="4285059"/>
            <a:ext cx="2442716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Cultivos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50642" y="4487540"/>
            <a:ext cx="244271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Cacao, Café y Granadilla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77310" y="4171131"/>
            <a:ext cx="2670572" cy="566142"/>
          </a:xfrm>
          <a:prstGeom prst="roundRect">
            <a:avLst>
              <a:gd name="adj" fmla="val 7395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1238" y="4285059"/>
            <a:ext cx="2442716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91238" y="4487540"/>
            <a:ext cx="244271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Groq Llama 3.1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6318"/>
            <a:ext cx="941710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68809"/>
            <a:ext cx="12287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83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Arquitectura Tecnológica Moderna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353964"/>
            <a:ext cx="4004965" cy="1610692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6" name="Shape 4"/>
          <p:cNvSpPr/>
          <p:nvPr/>
        </p:nvSpPr>
        <p:spPr>
          <a:xfrm>
            <a:off x="637877" y="1495723"/>
            <a:ext cx="425276" cy="425276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612627"/>
            <a:ext cx="191319" cy="191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877" y="206275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369269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TanStack Start + React 19 + Tailwind CSS 4 + TypeScript 5.8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42842" y="1353964"/>
            <a:ext cx="4005039" cy="1610692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11" name="Shape 8"/>
          <p:cNvSpPr/>
          <p:nvPr/>
        </p:nvSpPr>
        <p:spPr>
          <a:xfrm>
            <a:off x="4784601" y="1495723"/>
            <a:ext cx="425276" cy="425276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580" y="1612627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4601" y="206275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84601" y="2369269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Supabase: PostgreSQL, Auth y Edge Functions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6119" y="3106415"/>
            <a:ext cx="4004965" cy="1610692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7877" y="3248174"/>
            <a:ext cx="425276" cy="425276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56" y="3365078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877" y="3815209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Servidor SSR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7877" y="412172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Nitro (node-server / Vercel) + Bundler Vite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42842" y="3106415"/>
            <a:ext cx="4005039" cy="1610692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21" name="Shape 16"/>
          <p:cNvSpPr/>
          <p:nvPr/>
        </p:nvSpPr>
        <p:spPr>
          <a:xfrm>
            <a:off x="4784601" y="3248174"/>
            <a:ext cx="425276" cy="425276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580" y="3365078"/>
            <a:ext cx="191319" cy="1913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4601" y="3815209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PWA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784601" y="4121721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Worker v2 con stale-while-revalidate + IndexedDB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496119" y="531391"/>
            <a:ext cx="1001762" cy="205234"/>
          </a:xfrm>
          <a:prstGeom prst="roundRect">
            <a:avLst>
              <a:gd name="adj" fmla="val 22122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577155" y="571872"/>
            <a:ext cx="12968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&amp; DATOS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788119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Mapa Coroplético y Fuentes de Datos Multifonte</a:t>
            </a:r>
            <a:endParaRPr lang="en-US" sz="2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25898"/>
            <a:ext cx="270197" cy="2701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274" y="1872332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Mapa SVG Interactivo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27274" y="2160687"/>
            <a:ext cx="429160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personalizada de los 87 municipios con selector por teclado y datos de riesgo agroclimático por zona.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40459"/>
            <a:ext cx="270197" cy="2701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7274" y="2886894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Open-Meteo + NASA POWER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927274" y="3175248"/>
            <a:ext cx="429160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 actual, pronóstico 7 días, históricos 90 días, NDVI e índices agroclimáticos satelitales validados.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55021"/>
            <a:ext cx="270197" cy="2701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274" y="3901455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IDEAM + SoilGrids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27274" y="4189809"/>
            <a:ext cx="429160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Estaciones meteorológicas reales de Colombia y propiedades del suelo a 6 niveles de profundidad (ISRIC).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1762"/>
            <a:ext cx="1366540" cy="178371"/>
          </a:xfrm>
          <a:prstGeom prst="roundRect">
            <a:avLst>
              <a:gd name="adj" fmla="val 22115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66514" y="436959"/>
            <a:ext cx="1682948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ARTIFICIAL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18976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IA Conversacional Integrada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2310036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Chatbot con Groq Llama 3.1 8B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2590651"/>
            <a:ext cx="26669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Asistente virtual accesible desde cualquier municipio, con respuestas contextualizadas en tiempo real.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152" y="1240929"/>
            <a:ext cx="5198418" cy="292410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97" y="4389500"/>
            <a:ext cx="176064" cy="176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565" y="4383658"/>
            <a:ext cx="225474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Clasificador heurístico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intenciones del usuario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7808" y="4389500"/>
            <a:ext cx="176064" cy="176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35276" y="4383658"/>
            <a:ext cx="225482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Extracción de entidades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cultivos y municipios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5593" y="4389500"/>
            <a:ext cx="176064" cy="176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93061" y="4383658"/>
            <a:ext cx="225482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Memoria persistente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conversaciones en Supabase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08322" cy="107603"/>
          </a:xfrm>
          <a:prstGeom prst="roundRect">
            <a:avLst>
              <a:gd name="adj" fmla="val 22134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80542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 Inteligente y Funcionalidad Offline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4450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Arquitectura de cache por capas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590651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actúa como capa de cache centralizada, reduciendo costes y mejorando tiempos de respuesta en todas las fuentes de datos.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232" y="2800573"/>
            <a:ext cx="3989412" cy="391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81699" y="2880940"/>
            <a:ext cx="3790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Offline completo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4781699" y="3027090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PWA con IndexedDB sincroniza automáticamente al recuperar conectividad.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400645"/>
            <a:ext cx="1007418" cy="195114"/>
          </a:xfrm>
          <a:prstGeom prst="roundRect">
            <a:avLst>
              <a:gd name="adj" fmla="val 22125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4002137" y="439117"/>
            <a:ext cx="131058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642268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Hoja de Ruta: Escala Nacional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069631" y="1218307"/>
            <a:ext cx="14288" cy="3524473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7" name="Shape 4"/>
          <p:cNvSpPr/>
          <p:nvPr/>
        </p:nvSpPr>
        <p:spPr>
          <a:xfrm>
            <a:off x="4199855" y="1355675"/>
            <a:ext cx="385390" cy="14288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8" name="Shape 5"/>
          <p:cNvSpPr/>
          <p:nvPr/>
        </p:nvSpPr>
        <p:spPr>
          <a:xfrm>
            <a:off x="3925119" y="1218307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9" name="Text 6"/>
          <p:cNvSpPr/>
          <p:nvPr/>
        </p:nvSpPr>
        <p:spPr>
          <a:xfrm>
            <a:off x="3973302" y="1242380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11973" y="1262435"/>
            <a:ext cx="3935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GeoJSON Nacional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11973" y="1532930"/>
            <a:ext cx="393590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Reemplazar por el GeoJSON del IGAC/DANE (~1.122 municipios).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99855" y="2295004"/>
            <a:ext cx="385390" cy="14288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5119" y="2157636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4" name="Text 11"/>
          <p:cNvSpPr/>
          <p:nvPr/>
        </p:nvSpPr>
        <p:spPr>
          <a:xfrm>
            <a:off x="3973302" y="2181709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11973" y="2201763"/>
            <a:ext cx="3935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Ampliar Cultivos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11973" y="2472258"/>
            <a:ext cx="393590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Incorporar arroz, palma de aceite, flores, banano y cultivos regionales con perfiles agronómicos completos.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99855" y="3234333"/>
            <a:ext cx="385390" cy="14288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18" name="Shape 15"/>
          <p:cNvSpPr/>
          <p:nvPr/>
        </p:nvSpPr>
        <p:spPr>
          <a:xfrm>
            <a:off x="3925119" y="3096964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9" name="Text 16"/>
          <p:cNvSpPr/>
          <p:nvPr/>
        </p:nvSpPr>
        <p:spPr>
          <a:xfrm>
            <a:off x="3973302" y="3121037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11973" y="3141092"/>
            <a:ext cx="3935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Infraestructura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11973" y="3411587"/>
            <a:ext cx="393590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Migrar a Redis como cache dedicada y CDN para assets estáticos. Evaluar plan Pro de Supabase.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99855" y="4173662"/>
            <a:ext cx="385390" cy="14288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23" name="Shape 20"/>
          <p:cNvSpPr/>
          <p:nvPr/>
        </p:nvSpPr>
        <p:spPr>
          <a:xfrm>
            <a:off x="3925119" y="403629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24" name="Text 21"/>
          <p:cNvSpPr/>
          <p:nvPr/>
        </p:nvSpPr>
        <p:spPr>
          <a:xfrm>
            <a:off x="3973302" y="4060366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11973" y="4080421"/>
            <a:ext cx="3935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Modelo IA Propio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711973" y="4350916"/>
            <a:ext cx="393590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Desplegar Llama 3.1 en infraestructura propia o contratar OpenRouter/Together AI para superar el límite de Groq.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5808"/>
            <a:ext cx="698078" cy="144735"/>
          </a:xfrm>
          <a:prstGeom prst="roundRect">
            <a:avLst>
              <a:gd name="adj" fmla="val 22112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53269" y="424383"/>
            <a:ext cx="1040978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APLICACIONES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6142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Sectores de Aplicación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96119" y="2308027"/>
            <a:ext cx="270204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arquitectura desacoplada de SembraData permite adaptarse a múltiples sectores más allá de la agricultura de precisión.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251" y="1031751"/>
            <a:ext cx="5217319" cy="29347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110410"/>
            <a:ext cx="1989906" cy="637282"/>
          </a:xfrm>
          <a:prstGeom prst="roundRect">
            <a:avLst>
              <a:gd name="adj" fmla="val 6277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591369" y="4205660"/>
            <a:ext cx="17994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Seguros Agrícolas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1369" y="4397648"/>
            <a:ext cx="179940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Primas basadas en riesgo agroclimático por municipio.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50021" y="4110410"/>
            <a:ext cx="1989981" cy="637282"/>
          </a:xfrm>
          <a:prstGeom prst="roundRect">
            <a:avLst>
              <a:gd name="adj" fmla="val 6277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2645271" y="4205660"/>
            <a:ext cx="179948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Cadena de Suministro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45271" y="4397648"/>
            <a:ext cx="179948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Predicción de cosechas para logística y exportación.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03998" y="4110410"/>
            <a:ext cx="1989906" cy="637282"/>
          </a:xfrm>
          <a:prstGeom prst="roundRect">
            <a:avLst>
              <a:gd name="adj" fmla="val 6277"/>
            </a:avLst>
          </a:prstGeom>
          <a:solidFill>
            <a:srgbClr val="282D5E"/>
          </a:solidFill>
          <a:ln/>
        </p:spPr>
      </p:sp>
      <p:sp>
        <p:nvSpPr>
          <p:cNvPr id="14" name="Text 11"/>
          <p:cNvSpPr/>
          <p:nvPr/>
        </p:nvSpPr>
        <p:spPr>
          <a:xfrm>
            <a:off x="4699248" y="4205660"/>
            <a:ext cx="17994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Fintech Rural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99248" y="4397648"/>
            <a:ext cx="179940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crediticio basado en historial de análisis de suelo y clima.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657901" y="4110410"/>
            <a:ext cx="1989981" cy="637282"/>
          </a:xfrm>
          <a:prstGeom prst="roundRect">
            <a:avLst>
              <a:gd name="adj" fmla="val 6277"/>
            </a:avLst>
          </a:prstGeom>
          <a:solidFill>
            <a:srgbClr val="282D5E"/>
          </a:solidFill>
          <a:ln/>
        </p:spPr>
      </p:sp>
      <p:sp>
        <p:nvSpPr>
          <p:cNvPr id="17" name="Text 14"/>
          <p:cNvSpPr/>
          <p:nvPr/>
        </p:nvSpPr>
        <p:spPr>
          <a:xfrm>
            <a:off x="6753151" y="4205660"/>
            <a:ext cx="179948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Extensión Rural / SENA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53151" y="4397648"/>
            <a:ext cx="179948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IA como asistente de capacitación para campesinos.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496119" y="393725"/>
            <a:ext cx="885155" cy="198462"/>
          </a:xfrm>
          <a:prstGeom prst="roundRect">
            <a:avLst>
              <a:gd name="adj" fmla="val 22126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574477" y="432867"/>
            <a:ext cx="1185639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CONCLUSIÓN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640333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SembraData: Sólida, Escalable y Lista para Crecer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496119" y="1637779"/>
            <a:ext cx="4722763" cy="2079650"/>
          </a:xfrm>
          <a:prstGeom prst="roundRect">
            <a:avLst>
              <a:gd name="adj" fmla="val 2639"/>
            </a:avLst>
          </a:prstGeom>
          <a:solidFill>
            <a:srgbClr val="282D5E"/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1637779"/>
            <a:ext cx="2361381" cy="1140247"/>
          </a:xfrm>
          <a:custGeom>
            <a:avLst/>
            <a:gdLst/>
            <a:ahLst/>
            <a:cxnLst/>
            <a:rect l="l" t="t" r="r" b="b"/>
            <a:pathLst>
              <a:path w="2361381" h="1140247">
                <a:moveTo>
                  <a:pt x="45742" y="0"/>
                </a:moveTo>
                <a:lnTo>
                  <a:pt x="2361381" y="0"/>
                </a:lnTo>
                <a:lnTo>
                  <a:pt x="2361381" y="1140247"/>
                </a:lnTo>
                <a:lnTo>
                  <a:pt x="0" y="1140247"/>
                </a:lnTo>
                <a:lnTo>
                  <a:pt x="0" y="45742"/>
                </a:lnTo>
                <a:arcTo hR="45742" wR="45742" stAng="10800000" swAng="5400000"/>
                <a:close/>
              </a:path>
            </a:pathLst>
          </a:cu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626790" y="1768450"/>
            <a:ext cx="21000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Stack Moderno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790" y="2044824"/>
            <a:ext cx="210003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19, Supabase, Nitro y PWA con 100% de tests passing.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57500" y="1637779"/>
            <a:ext cx="2361381" cy="1140247"/>
          </a:xfrm>
          <a:custGeom>
            <a:avLst/>
            <a:gdLst/>
            <a:ahLst/>
            <a:cxnLst/>
            <a:rect l="l" t="t" r="r" b="b"/>
            <a:pathLst>
              <a:path w="2361381" h="1140247">
                <a:moveTo>
                  <a:pt x="0" y="0"/>
                </a:moveTo>
                <a:lnTo>
                  <a:pt x="2315639" y="0"/>
                </a:lnTo>
                <a:arcTo hR="45742" wR="45742" stAng="16200000" swAng="5400000"/>
                <a:lnTo>
                  <a:pt x="2361381" y="1140247"/>
                </a:lnTo>
                <a:lnTo>
                  <a:pt x="0" y="1140247"/>
                </a:lnTo>
                <a:lnTo>
                  <a:pt x="0" y="0"/>
                </a:lnTo>
                <a:close/>
              </a:path>
            </a:pathLst>
          </a:custGeom>
          <a:solidFill>
            <a:srgbClr val="282D5E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1637779"/>
            <a:ext cx="14288" cy="1140247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12" name="Text 9"/>
          <p:cNvSpPr/>
          <p:nvPr/>
        </p:nvSpPr>
        <p:spPr>
          <a:xfrm>
            <a:off x="2988171" y="1768450"/>
            <a:ext cx="21000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Datos Gratuitos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88171" y="2044824"/>
            <a:ext cx="210003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Open-Meteo, NASA POWER, IDEAM y SoilGrids sin coste de licencia.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6119" y="2778026"/>
            <a:ext cx="4722763" cy="939403"/>
          </a:xfrm>
          <a:custGeom>
            <a:avLst/>
            <a:gdLst/>
            <a:ahLst/>
            <a:cxnLst/>
            <a:rect l="l" t="t" r="r" b="b"/>
            <a:pathLst>
              <a:path w="4722763" h="939403">
                <a:moveTo>
                  <a:pt x="0" y="0"/>
                </a:moveTo>
                <a:lnTo>
                  <a:pt x="4722763" y="0"/>
                </a:lnTo>
                <a:lnTo>
                  <a:pt x="4722763" y="893661"/>
                </a:lnTo>
                <a:arcTo hR="45742" wR="45742" stAng="0" swAng="5400000"/>
                <a:lnTo>
                  <a:pt x="45742" y="939403"/>
                </a:lnTo>
                <a:arcTo hR="45742" wR="45742" stAng="5400000" swAng="5400000"/>
                <a:lnTo>
                  <a:pt x="0" y="0"/>
                </a:lnTo>
                <a:close/>
              </a:path>
            </a:pathLst>
          </a:custGeom>
          <a:solidFill>
            <a:srgbClr val="282D5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6119" y="2778026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16" name="Text 13"/>
          <p:cNvSpPr/>
          <p:nvPr/>
        </p:nvSpPr>
        <p:spPr>
          <a:xfrm>
            <a:off x="626790" y="2908697"/>
            <a:ext cx="44614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IA Conversacional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6790" y="3185071"/>
            <a:ext cx="4461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Groq Llama 3.1 con memoria persistente y extracción de entidades.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6119" y="3852937"/>
            <a:ext cx="4722763" cy="896764"/>
          </a:xfrm>
          <a:prstGeom prst="roundRect">
            <a:avLst>
              <a:gd name="adj" fmla="val 6121"/>
            </a:avLst>
          </a:prstGeom>
          <a:solidFill>
            <a:srgbClr val="670D7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0" y="4040014"/>
            <a:ext cx="163339" cy="13067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20800" y="4006081"/>
            <a:ext cx="41674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Próximos pasos: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Ampliar GeoJSON a nivel nacional, incorporar nuevos perfiles de cultivo y dimensionar la infraestructura de cache para mayor volumen de consultas.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496119" y="929655"/>
            <a:ext cx="685354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972145"/>
            <a:ext cx="9724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201713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Gracias por acompañarnos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2637086"/>
            <a:ext cx="4722763" cy="1576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Esperamos que SembraData les haya mostrado una forma más inteligente, escalable y sostenible de potenciar la agricultura con datos e inteligencia artificial.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2026-07-31T19:00:51Z</dcterms:created>
  <dcterms:modified xsi:type="dcterms:W3CDTF">2026-07-31T19:00:51Z</dcterms:modified>
</cp:coreProperties>
</file>